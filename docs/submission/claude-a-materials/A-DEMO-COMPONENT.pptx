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e4d17fb995487d" /><Relationship Type="http://schemas.openxmlformats.org/officeDocument/2006/relationships/extended-properties" Target="/docProps/app.xml" Id="Ra7f5f4703c664638" /><Relationship Type="http://schemas.openxmlformats.org/officeDocument/2006/relationships/officeDocument" Target="/ppt/presentation.xml" Id="Rae3c9c8591c84c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7e91f218b247b0"/>
  </p:sldMasterIdLst>
  <p:notesMasterIdLst>
    <p:notesMasterId xmlns:r="http://schemas.openxmlformats.org/officeDocument/2006/relationships" r:id="Rd7535ae50c774c93"/>
  </p:notesMasterIdLst>
  <p:sldIdLst>
    <p:sldId xmlns:r="http://schemas.openxmlformats.org/officeDocument/2006/relationships" id="256" r:id="Rc028823a44b94dd1"/>
    <p:sldId xmlns:r="http://schemas.openxmlformats.org/officeDocument/2006/relationships" id="257" r:id="R997321217108460c"/>
    <p:sldId xmlns:r="http://schemas.openxmlformats.org/officeDocument/2006/relationships" id="258" r:id="R1f5f836856b24a99"/>
    <p:sldId xmlns:r="http://schemas.openxmlformats.org/officeDocument/2006/relationships" id="259" r:id="R1e7a0b0e7370481e"/>
    <p:sldId xmlns:r="http://schemas.openxmlformats.org/officeDocument/2006/relationships" id="260" r:id="R41499ba7253044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8f1c5d519f4fdc" /><Relationship Type="http://schemas.openxmlformats.org/officeDocument/2006/relationships/slideMaster" Target="/ppt/slideMasters/slideMaster1.xml" Id="R0b7e91f218b247b0" /><Relationship Type="http://schemas.openxmlformats.org/officeDocument/2006/relationships/notesMaster" Target="/ppt/notesMasters/notesMaster1.xml" Id="Rd7535ae50c774c93" /><Relationship Type="http://schemas.openxmlformats.org/officeDocument/2006/relationships/presProps" Target="/ppt/presProps.xml" Id="R953de6ef23914f01" /><Relationship Type="http://schemas.openxmlformats.org/officeDocument/2006/relationships/tableStyles" Target="/ppt/tableStyles.xml" Id="R7aae1da014314ad8" /><Relationship Type="http://schemas.openxmlformats.org/officeDocument/2006/relationships/slide" Target="/ppt/slides/slide1.xml" Id="Rc028823a44b94dd1" /><Relationship Type="http://schemas.openxmlformats.org/officeDocument/2006/relationships/slide" Target="/ppt/slides/slide2.xml" Id="R997321217108460c" /><Relationship Type="http://schemas.openxmlformats.org/officeDocument/2006/relationships/slide" Target="/ppt/slides/slide3.xml" Id="R1f5f836856b24a99" /><Relationship Type="http://schemas.openxmlformats.org/officeDocument/2006/relationships/slide" Target="/ppt/slides/slide4.xml" Id="R1e7a0b0e7370481e" /><Relationship Type="http://schemas.openxmlformats.org/officeDocument/2006/relationships/slide" Target="/ppt/slides/slide5.xml" Id="R41499ba7253044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7fb5755a1240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418aece6a7434c" /><Relationship Type="http://schemas.openxmlformats.org/officeDocument/2006/relationships/notesMaster" Target="/ppt/notesMasters/notesMaster1.xml" Id="Rb1b83780510d42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b440bb7c2a4c18" /><Relationship Type="http://schemas.openxmlformats.org/officeDocument/2006/relationships/notesMaster" Target="/ppt/notesMasters/notesMaster1.xml" Id="R327851c93b614e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81d6824be74430" /><Relationship Type="http://schemas.openxmlformats.org/officeDocument/2006/relationships/notesMaster" Target="/ppt/notesMasters/notesMaster1.xml" Id="R051ba22bb7ec4a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71618e5f7a4971" /><Relationship Type="http://schemas.openxmlformats.org/officeDocument/2006/relationships/notesMaster" Target="/ppt/notesMasters/notesMaster1.xml" Id="Rc0b26c17529b4e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26c28a73d04f0d" /><Relationship Type="http://schemas.openxmlformats.org/officeDocument/2006/relationships/notesMaster" Target="/ppt/notesMasters/notesMaster1.xml" Id="R9ae267156a0a43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来源相对路径：docs/submission/A-SYSTEM-DESIGN.md（§1 需求与边界）</a:t>
            </a:r>
          </a:p>
          <a:p xmlns:a="http://schemas.openxmlformats.org/drawingml/2006/main">
            <a:r>
              <a:t>设备运行来源：docs/modules/A/35-fourteen-device-runtime.md，核心提交 8cd5f2dac57df94699b2e06e1c398320b5393eb5</a:t>
            </a:r>
          </a:p>
          <a:p xmlns:a="http://schemas.openxmlformats.org/drawingml/2006/main">
            <a:r>
              <a:t>对应真实证据：14 个独立身份真实心跳、七路遥测、七执行器各执行 1 次、重放原 ACK 完全一致、七区后续采样温度下降（fleet.json）</a:t>
            </a:r>
          </a:p>
          <a:p xmlns:a="http://schemas.openxmlformats.org/drawingml/2006/main">
            <a:r>
              <a:t>未测/不代表：该运行不含 A 注册持久 worker、B 三批规则、C 存储历史 CSV、两通知、第二电脑；不是完整 E1。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来源相对路径：docs/submission/A-SYSTEM-DESIGN.md（§2 分层架构）</a:t>
            </a:r>
          </a:p>
          <a:p xmlns:a="http://schemas.openxmlformats.org/drawingml/2006/main">
            <a:r>
              <a:t>架构图来源：docs/submission/design/README.md；业务源码固定 71e5a8820ee966db1b250afaf0a72143a4bdc62b（PR59）</a:t>
            </a:r>
          </a:p>
          <a:p xmlns:a="http://schemas.openxmlformats.org/drawingml/2006/main">
            <a:r>
              <a:t>图已实际编译、渲染并逐张人工视觉检查；图中通知实收为虚线，表示待验收</a:t>
            </a:r>
          </a:p>
          <a:p xmlns:a="http://schemas.openxmlformats.org/drawingml/2006/main">
            <a:r>
              <a:t>未测：图中组件存在不代表所有后台调度已启用；B 独立持久派发、C 自动恢复、SMTP＋飞书两端实收仍未签收。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来源相对路径：docs/submission/A-TEST-REPORT-CANDIDATE.md</a:t>
            </a:r>
          </a:p>
          <a:p xmlns:a="http://schemas.openxmlformats.org/drawingml/2006/main">
            <a:r>
              <a:t>A46 来源：docs/modules/A/46-gated-fleet-storage-control.md，干净 62bb2ef：14 在线、7 采集流、执行 ACK 后降温、停发离线同状态恢复、同快照 CSV 完整 ID 对拍（52/39 行）</a:t>
            </a:r>
          </a:p>
          <a:p xmlns:a="http://schemas.openxmlformats.org/drawingml/2006/main">
            <a:r>
              <a:t>A55 来源：docs/modules/A/55-current-c-read-ports.md，精确 ecf19d092075fa825e565d7f5f47c39519432ead，63 项全通过</a:t>
            </a:r>
          </a:p>
          <a:p xmlns:a="http://schemas.openxmlformats.org/drawingml/2006/main">
            <a:r>
              <a:t>A35 来源：docs/modules/A/35-fourteen-device-runtime.md，核心提交 8cd5f2dac57df94699b2e06e1c398320b5393eb5</a:t>
            </a:r>
          </a:p>
          <a:p xmlns:a="http://schemas.openxmlformats.org/drawingml/2006/main">
            <a:r>
              <a:t>未测/不代表：A55 complete_e1=false、notifications_sent=0；A46 WH1 多批评价仍 hold，不是多批告警、不是 C 自动恢复、不是两通知实收。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来源相对路径：docs/modules/A/54-notification-runner-composition.md、55-current-c-read-ports.md、46-gated-fleet-storage-control.md</a:t>
            </a:r>
          </a:p>
          <a:p xmlns:a="http://schemas.openxmlformats.org/drawingml/2006/main">
            <a:r>
              <a:t>A54 精确提交 1b7a9d91e6a8a426eb4995e7f9114bff1a399ba7；A55 精确提交 ecf19d092075fa825e565d7f5f47c39519432ead；A46 干净 62bb2ef</a:t>
            </a:r>
          </a:p>
          <a:p xmlns:a="http://schemas.openxmlformats.org/drawingml/2006/main">
            <a:r>
              <a:t>可靠机制：原异常行锁/锁后重读/事务失败回滚/HTTP 503+Retry-After；MQTT 持久接纳；固定快照；合成派发 attempt 0/2/3/3</a:t>
            </a:r>
          </a:p>
          <a:p xmlns:a="http://schemas.openxmlformats.org/drawingml/2006/main">
            <a:r>
              <a:t>未测/不代表：合成 SMTP/APP 不是真服务；两渠道终端实收、同一版本完整 E1、第二电脑最终冻结版复现均未签收。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来源相对路径：docs/submission/README.md（发布阻断检查 S0/E1/F/第二机/M01—M05）</a:t>
            </a:r>
          </a:p>
          <a:p xmlns:a="http://schemas.openxmlformats.org/drawingml/2006/main">
            <a:r>
              <a:t>候选基线：本分支业务源 4dbf136bef902df3018ec322a0eeb18b9909a157，是 PR76 main-facing 候选，不是已发布 main</a:t>
            </a:r>
          </a:p>
          <a:p xmlns:a="http://schemas.openxmlformats.org/drawingml/2006/main">
            <a:r>
              <a:t>已发布 main 在下发时 e20f553bb85a67ac0ec74579a9fcc238b5d427a8</a:t>
            </a:r>
          </a:p>
          <a:p xmlns:a="http://schemas.openxmlformats.org/drawingml/2006/main">
            <a:r>
              <a:t>未测/不代表：完整 E1、两渠道终端实收、最终冻结版第二机、M01—M05 成品与实际投递均未签收。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5da3f95800424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8a664310ef469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8c475ed28c468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7ad462411944f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00f14a82a0486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cc522af25449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230F41-3194-4BBD-B4DD-0A6D68AB35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8BE3F12-3A14-442B-963F-254F9CFCF72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DC9F86A-F72D-46A2-924A-2095494761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3B6722-EFB0-4AE7-B28E-1106348840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21B4995-C1FF-43E1-A61F-610841CC33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2399D1F-9151-49A7-B849-ED120D8176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7F62AD5-D06E-40EC-9D87-3BFB0FC850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00311D8-30ED-4088-923E-DBFEF0EFD7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39C67D-69A8-4E73-B9F5-CC1C4C60E0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6CC0BA0-3F50-487B-BC18-A6AEF7818B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7b9b9ed75b45bf" /><Relationship Type="http://schemas.openxmlformats.org/officeDocument/2006/relationships/slideLayout" Target="/ppt/slideLayouts/slideLayout1.xml" Id="R54913bb01e314fb1" /><Relationship Type="http://schemas.openxmlformats.org/officeDocument/2006/relationships/slideLayout" Target="/ppt/slideLayouts/slideLayout2.xml" Id="Rc8f5700f706e46a9" /><Relationship Type="http://schemas.openxmlformats.org/officeDocument/2006/relationships/slideLayout" Target="/ppt/slideLayouts/slideLayout3.xml" Id="Rd48cea20fb524a3b" /><Relationship Type="http://schemas.openxmlformats.org/officeDocument/2006/relationships/slideLayout" Target="/ppt/slideLayouts/slideLayout4.xml" Id="R594425a55b874570" /><Relationship Type="http://schemas.openxmlformats.org/officeDocument/2006/relationships/slideLayout" Target="/ppt/slideLayouts/slideLayout5.xml" Id="R4edee452376b4256" /><Relationship Type="http://schemas.openxmlformats.org/officeDocument/2006/relationships/slideLayout" Target="/ppt/slideLayouts/slideLayout6.xml" Id="R92423a102bab47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913bb01e314fb1"/>
    <p:sldLayoutId xmlns:r="http://schemas.openxmlformats.org/officeDocument/2006/relationships" id="2147483650" r:id="Rc8f5700f706e46a9"/>
    <p:sldLayoutId xmlns:r="http://schemas.openxmlformats.org/officeDocument/2006/relationships" id="2147483651" r:id="Rd48cea20fb524a3b"/>
    <p:sldLayoutId xmlns:r="http://schemas.openxmlformats.org/officeDocument/2006/relationships" id="2147483652" r:id="R594425a55b874570"/>
    <p:sldLayoutId xmlns:r="http://schemas.openxmlformats.org/officeDocument/2006/relationships" id="2147483653" r:id="R4edee452376b4256"/>
    <p:sldLayoutId xmlns:r="http://schemas.openxmlformats.org/officeDocument/2006/relationships" id="2147483654" r:id="R92423a102bab47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b94e52080c4d8c" /><Relationship Type="http://schemas.openxmlformats.org/officeDocument/2006/relationships/notesSlide" Target="/ppt/notesSlides/notesSlide1.xml" Id="R31408c0bc05b43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6352927e214d08" /><Relationship Type="http://schemas.openxmlformats.org/officeDocument/2006/relationships/image" Target="/ppt/media/image.png" Id="R86200eccd42b4354" /><Relationship Type="http://schemas.openxmlformats.org/officeDocument/2006/relationships/notesSlide" Target="/ppt/notesSlides/notesSlide2.xml" Id="R393c9b5e5fcd4f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ef7bf5420a4a89" /><Relationship Type="http://schemas.openxmlformats.org/officeDocument/2006/relationships/notesSlide" Target="/ppt/notesSlides/notesSlide3.xml" Id="R81cbe04a21a34e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f06fcf9c924aaa" /><Relationship Type="http://schemas.openxmlformats.org/officeDocument/2006/relationships/notesSlide" Target="/ppt/notesSlides/notesSlide4.xml" Id="R2e432bc7f8fd46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97ed4ea4054899" /><Relationship Type="http://schemas.openxmlformats.org/officeDocument/2006/relationships/notesSlide" Target="/ppt/notesSlides/notesSlide5.xml" Id="R0932f2d396e147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DD5B1E-1C30-4B50-8D9E-43AAA4B2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冷库业务与角色范围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966E20-F083-44A1-B9EF-888383B5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业务范围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518CE7-94EB-4B3A-96CC-64148F05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334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两座苹果冷库，三批同品种苹果，十四个逻辑仿真设备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七个测区，每区一个温度采集身份、一个制冷执行身份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数据来自软件模拟，不是实物果品实验；阈值异常不代表真实腐败概率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C2283E-E4A7-4A89-BFB3-CB10DC12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192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数据与处置链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A54F96-2694-42CF-8D33-38F12368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5048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spcAft>
                <a:spcPts val="600"/>
              </a:spcAft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采集：</a:t>
            </a:r>
            <a:r>
              <a: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设备温度消息持续上报</a:t>
            </a:r>
          </a:p>
          <a:p xmlns:a="http://schemas.openxmlformats.org/drawingml/2006/main">
            <a:pPr>
              <a:spcAft>
                <a:spcPts val="600"/>
              </a:spcAft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观测：</a:t>
            </a:r>
            <a:r>
              <a: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原始、清洗、历史与同筛选 CSV</a:t>
            </a:r>
          </a:p>
          <a:p xmlns:a="http://schemas.openxmlformats.org/drawingml/2006/main">
            <a:pPr>
              <a:spcAft>
                <a:spcPts val="600"/>
              </a:spcAft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判定：</a:t>
            </a:r>
            <a:r>
              <a: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B 版本化规则判断异常</a:t>
            </a:r>
          </a:p>
          <a:p xmlns:a="http://schemas.openxmlformats.org/drawingml/2006/main">
            <a:pPr>
              <a:spcAft>
                <a:spcPts val="600"/>
              </a:spcAft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处置：</a:t>
            </a:r>
            <a:r>
              <a: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下发制冷命令、产生告警并保留追溯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A5B91-4595-4B97-A5B0-91387912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角色分工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D45857-9FA0-4B3A-BC5B-E6986DD5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spcAft>
                <a:spcPts val="400"/>
              </a:spcAft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A：</a:t>
            </a:r>
            <a:r>
              <a: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设备注册、在线状态、MQTT 接纳、控制回执与数据链接线</a:t>
            </a:r>
          </a:p>
          <a:p xmlns:a="http://schemas.openxmlformats.org/drawingml/2006/main">
            <a:pPr>
              <a:spcAft>
                <a:spcPts val="400"/>
              </a:spcAft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B：</a:t>
            </a:r>
            <a:r>
              <a: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冷库批次、规则、告警处置、两种通知与追溯</a:t>
            </a:r>
          </a:p>
          <a:p xmlns:a="http://schemas.openxmlformats.org/drawingml/2006/main">
            <a:pPr>
              <a:spcAft>
                <a:spcPts val="0"/>
              </a:spcAft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C：</a:t>
            </a:r>
            <a:r>
              <a: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遥测清洗、质量、历史、快照 CSV 与风险评价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BA6BBC-82EC-4514-AA95-EEFD8CAF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 docs/submission/A-SYSTEM-DESIGN.md；设备运行层 8cd5f2d（A35）</a:t>
            </a:r>
          </a:p>
        </p:txBody>
      </p:sp>
    </p:spTree>
    <p:extLst>
      <p:ext uri="{BB962C8B-B14F-4D97-AF65-F5344CB8AC3E}">
        <p14:creationId xmlns:p14="http://schemas.microsoft.com/office/powerpoint/2010/main" val="3156766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5ACEE-059C-4D6A-AE75-2B9EA686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共享系统架构与模块归属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C0424-88B3-41D3-8B01-5847CA94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分层与归属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C367E-948E-410C-8B36-041AC5BA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095750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展示层：React/TypeScript/Vite，公共认证与导航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HTTP 层：FastAPI，总入口一次挂载 API_V1_STR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 入口：注册、心跳在线、MQTT 接纳、控制回执、A→B 投递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B 规则告警：批次、版本化规则、异常事件、通知 attempt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C 数据质量：raw/质量、历史、固定快照 CSV、评价与 outbox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存储：PostgreSQL 业务库 + Mosquitto 消息路由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253BA-C50F-4639-AF0D-1AECCE0290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200eccd42b4354"/>
          <a:stretch xmlns:a="http://schemas.openxmlformats.org/drawingml/2006/main"/>
        </p:blipFill>
        <p:spPr>
          <a:xfrm xmlns:a="http://schemas.openxmlformats.org/drawingml/2006/main">
            <a:off x="5269211" y="1333500"/>
            <a:ext cx="6111278" cy="457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22454-365D-45D7-A605-2BBBD453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图 docs/submission/design/tikz_architecture.png（TikZ 源 tikz_architecture.tex）</a:t>
            </a:r>
          </a:p>
        </p:txBody>
      </p:sp>
    </p:spTree>
    <p:extLst>
      <p:ext uri="{BB962C8B-B14F-4D97-AF65-F5344CB8AC3E}">
        <p14:creationId xmlns:p14="http://schemas.microsoft.com/office/powerpoint/2010/main" val="8008632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504AB6-37E2-4763-ABAF-0230318E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控制与数据链的分段证据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485949-8FFB-4296-8100-819FDCBF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数据链环节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82B75-67FD-4CE9-9CD6-F90B93DC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429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1  注册绑定设备</a:t>
            </a:r>
          </a:p>
          <a:p xmlns:a="http://schemas.openxmlformats.org/drawingml/2006/main">
            <a:pPr>
              <a:spcAft>
                <a:spcPts val="800"/>
              </a:spcAft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2  在线状态与心跳</a:t>
            </a:r>
          </a:p>
          <a:p xmlns:a="http://schemas.openxmlformats.org/drawingml/2006/main">
            <a:pPr>
              <a:spcAft>
                <a:spcPts val="800"/>
              </a:spcAft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3  下发制冷命令</a:t>
            </a:r>
          </a:p>
          <a:p xmlns:a="http://schemas.openxmlformats.org/drawingml/2006/main">
            <a:pPr>
              <a:spcAft>
                <a:spcPts val="800"/>
              </a:spcAft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4  设备执行并返回 ACK</a:t>
            </a:r>
          </a:p>
          <a:p xmlns:a="http://schemas.openxmlformats.org/drawingml/2006/main">
            <a:pPr>
              <a:spcAft>
                <a:spcPts val="800"/>
              </a:spcAft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5  后续采样温度变化</a:t>
            </a:r>
          </a:p>
          <a:p xmlns:a="http://schemas.openxmlformats.org/drawingml/2006/main">
            <a:pPr>
              <a:spcAft>
                <a:spcPts val="800"/>
              </a:spcAft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6  raw/清洗/历史/同筛选 CSV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8D49F-F85F-4AAF-8882-0CF23ACD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219200"/>
            <a:ext cx="702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已分段证明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A8695-0827-44B4-8215-660AC7D0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76400"/>
            <a:ext cx="70294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注册/在线/控制 ACK 后降温、同快照 CSV 完整 ID 对拍（A46 62bb2ef）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14 身份真实心跳、执行 1 次、重放 ACK 一致（A35 8cd5f2d）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当前 C 只读端口兼容：历史/CSV 禁缓存、冻结前沿只读核对（A55 ecf19d0）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81917-FEA1-49C9-A81A-5EC070DB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38600"/>
            <a:ext cx="702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未完成，不能写成通过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90198-CF73-4A19-82A0-FFD9E18F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95800"/>
            <a:ext cx="70294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正式恢复端口与 F03 更正接线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同一冻结版本完整 E1（端到端全链）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SMTP 与飞书手机端两渠道终端实收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C40C7B-465B-4CB3-8683-C1C75F3C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证据见 docs/submission/A-TEST-REPORT-CANDIDATE.md 与 docs/modules/A/46、55</a:t>
            </a:r>
          </a:p>
        </p:txBody>
      </p:sp>
    </p:spTree>
    <p:extLst>
      <p:ext uri="{BB962C8B-B14F-4D97-AF65-F5344CB8AC3E}">
        <p14:creationId xmlns:p14="http://schemas.microsoft.com/office/powerpoint/2010/main" val="8510407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639DE5-B56B-47CD-BCF4-22855218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可靠性与真实验证边界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650850-7939-4698-8B9A-FAFC295F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候选事务与重启验证，逐项区分“证明了什么、没证明什么”。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B3C49A-DFE5-4F5A-BB3D-0CD7D7E2EF73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953000"/>
                <a:gridCol w="3581400"/>
              </a:tblGrid>
              <a:tr h="8191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 / 运行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2E8F0"/>
                      </a:solidFill>
                      <a:prstDash val="solid"/>
                    </a:lnL>
                    <a:lnR w="9525">
                      <a:solidFill>
                        <a:srgbClr val="E2E8F0"/>
                      </a:solidFill>
                      <a:prstDash val="solid"/>
                    </a:lnR>
                    <a:lnT w="9525">
                      <a:solidFill>
                        <a:srgbClr val="E2E8F0"/>
                      </a:solidFill>
                      <a:prstDash val="solid"/>
                    </a:lnT>
                    <a:lnB w="9525">
                      <a:solidFill>
                        <a:srgbClr val="E2E8F0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实际证明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2E8F0"/>
                      </a:solidFill>
                      <a:prstDash val="solid"/>
                    </a:lnR>
                    <a:lnT w="9525">
                      <a:solidFill>
                        <a:srgbClr val="E2E8F0"/>
                      </a:solidFill>
                      <a:prstDash val="solid"/>
                    </a:lnT>
                    <a:lnB w="9525">
                      <a:solidFill>
                        <a:srgbClr val="E2E8F0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不代表什么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2E8F0"/>
                      </a:solidFill>
                      <a:prstDash val="solid"/>
                    </a:lnR>
                    <a:lnT w="9525">
                      <a:solidFill>
                        <a:srgbClr val="E2E8F0"/>
                      </a:solidFill>
                      <a:prstDash val="solid"/>
                    </a:lnT>
                    <a:lnB w="9525">
                      <a:solidFill>
                        <a:srgbClr val="E2E8F0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1b7a9d9（A54）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2E8F0"/>
                      </a:solidFill>
                      <a:prstDash val="solid"/>
                    </a:lnL>
                    <a:lnR w="9525">
                      <a:solidFill>
                        <a:srgbClr val="E2E8F0"/>
                      </a:solidFill>
                      <a:prstDash val="solid"/>
                    </a:lnR>
                    <a:lnB w="9525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1341 项零失败/错误/跳过、92%；唯一迁移链空库升级；真实 MQTT→CLI→C PG→TCP B→合成渠道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2E8F0"/>
                      </a:solidFill>
                      <a:prstDash val="solid"/>
                    </a:lnR>
                    <a:lnB w="9525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不是 4db 最新全套重跑，不是终端实收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2E8F0"/>
                      </a:solidFill>
                      <a:prstDash val="solid"/>
                    </a:lnR>
                    <a:lnB w="9525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ecf19d0（A55）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2E8F0"/>
                      </a:solidFill>
                      <a:prstDash val="solid"/>
                    </a:lnL>
                    <a:lnR w="9525">
                      <a:solidFill>
                        <a:srgbClr val="E2E8F0"/>
                      </a:solidFill>
                      <a:prstDash val="solid"/>
                    </a:lnR>
                    <a:lnB w="9525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63 项全通过；当前 C 只读端口兼容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2E8F0"/>
                      </a:solidFill>
                      <a:prstDash val="solid"/>
                    </a:lnR>
                    <a:lnB w="9525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不是 SMTP/飞书实收，complete_e1=false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2E8F0"/>
                      </a:solidFill>
                      <a:prstDash val="solid"/>
                    </a:lnR>
                    <a:lnB w="9525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62bb2ef（A46）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2E8F0"/>
                      </a:solidFill>
                      <a:prstDash val="solid"/>
                    </a:lnL>
                    <a:lnR w="9525">
                      <a:solidFill>
                        <a:srgbClr val="E2E8F0"/>
                      </a:solidFill>
                      <a:prstDash val="solid"/>
                    </a:lnR>
                    <a:lnB w="9525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 在线、7 采集流、执行 ACK 后降温、离线同状态恢复、同快照 CSV 对拍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2E8F0"/>
                      </a:solidFill>
                      <a:prstDash val="solid"/>
                    </a:lnR>
                    <a:lnB w="9525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不是多批告警，不是完整 E1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2E8F0"/>
                      </a:solidFill>
                      <a:prstDash val="solid"/>
                    </a:lnR>
                    <a:lnB w="9525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合成派发 0/2/3/3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2E8F0"/>
                      </a:solidFill>
                      <a:prstDash val="solid"/>
                    </a:lnL>
                    <a:lnR w="9525">
                      <a:solidFill>
                        <a:srgbClr val="E2E8F0"/>
                      </a:solidFill>
                      <a:prstDash val="solid"/>
                    </a:lnR>
                    <a:lnB w="9525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持久 attempt 重启只补缺失、不重复发送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2E8F0"/>
                      </a:solidFill>
                      <a:prstDash val="solid"/>
                    </a:lnR>
                    <a:lnB w="9525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合成 SMTP/APP 不是真服务，不是双渠道实收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2E8F0"/>
                      </a:solidFill>
                      <a:prstDash val="solid"/>
                    </a:lnR>
                    <a:lnB w="9525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953F2D-8EB9-480E-B6AA-B40A50B3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证据 A54/A55/A46；见 docs/modules/A/54、55、46</a:t>
            </a:r>
          </a:p>
        </p:txBody>
      </p:sp>
    </p:spTree>
    <p:extLst>
      <p:ext uri="{BB962C8B-B14F-4D97-AF65-F5344CB8AC3E}">
        <p14:creationId xmlns:p14="http://schemas.microsoft.com/office/powerpoint/2010/main" val="21049422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78347-19DE-4EF4-8C78-6023F1B3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验收与交付状态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7CA89-5D45-440D-B4D0-28DF9D6B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已通过的候选能力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1B0EB-9F51-4743-B2AD-1AFF28D8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334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设备注册/在线、控制命令与执行 ACK、后续温度变化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raw/清洗/历史与同筛选 CSV 完整对拍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唯一迁移链空库升级、持久接纳、固定快照、合成派发重启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后端回归 1341 项、当前 C 增量 63 项通过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7CA3E-6897-4848-AB06-683329BE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192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待填，不勾选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2E795-E8BB-4A83-BAFF-DA6F0096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5048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正式恢复端口与 F03 更正接线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SMTP 与飞书手机端真实授权实收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同一冻结版本完整 E1 与第二电脑复现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M01—M05 汇编与实际投递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037C28-1864-430F-8595-71480F3B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本材料只标候选与分段证据；最终勾选须等真实结果与同版复核，不伪造截图、收件或通过勾号。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EA45C1-0A10-4434-A132-E9D6EAF8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交付门禁 docs/submission/README.md；A54/A55 为候选，非已发布 main</a:t>
            </a:r>
          </a:p>
        </p:txBody>
      </p:sp>
    </p:spTree>
    <p:extLst>
      <p:ext uri="{BB962C8B-B14F-4D97-AF65-F5344CB8AC3E}">
        <p14:creationId xmlns:p14="http://schemas.microsoft.com/office/powerpoint/2010/main" val="14944031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2026-10-25T09:30:31.9790000Z</dcterms:created>
  <dcterms:modified xsi:type="dcterms:W3CDTF">2026-10-25T09:30:31.9790000Z</dcterms:modified>
</coreProperties>
</file>