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1273354b3f49a6" /><Relationship Type="http://schemas.openxmlformats.org/officeDocument/2006/relationships/extended-properties" Target="/docProps/app.xml" Id="Rfb6962c1d90c4dd5" /><Relationship Type="http://schemas.openxmlformats.org/officeDocument/2006/relationships/officeDocument" Target="/ppt/presentation.xml" Id="R9eeb441d2f7d4c1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ca74e15e26449bb"/>
  </p:sldMasterIdLst>
  <p:notesMasterIdLst>
    <p:notesMasterId xmlns:r="http://schemas.openxmlformats.org/officeDocument/2006/relationships" r:id="R41eb9d37e95c457c"/>
  </p:notesMasterIdLst>
  <p:sldIdLst>
    <p:sldId xmlns:r="http://schemas.openxmlformats.org/officeDocument/2006/relationships" id="256" r:id="Rb015efa6ee374572"/>
    <p:sldId xmlns:r="http://schemas.openxmlformats.org/officeDocument/2006/relationships" id="257" r:id="R237fd2d1afae482c"/>
    <p:sldId xmlns:r="http://schemas.openxmlformats.org/officeDocument/2006/relationships" id="258" r:id="Rcc9e975b67064524"/>
    <p:sldId xmlns:r="http://schemas.openxmlformats.org/officeDocument/2006/relationships" id="259" r:id="Rd258b2df74574738"/>
    <p:sldId xmlns:r="http://schemas.openxmlformats.org/officeDocument/2006/relationships" id="260" r:id="Rf8236740216f4c23"/>
    <p:sldId xmlns:r="http://schemas.openxmlformats.org/officeDocument/2006/relationships" id="261" r:id="Red04f2485a434c4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5c36bdc6d64ec1" /><Relationship Type="http://schemas.openxmlformats.org/officeDocument/2006/relationships/slideMaster" Target="/ppt/slideMasters/slideMaster1.xml" Id="R2ca74e15e26449bb" /><Relationship Type="http://schemas.openxmlformats.org/officeDocument/2006/relationships/notesMaster" Target="/ppt/notesMasters/notesMaster1.xml" Id="R41eb9d37e95c457c" /><Relationship Type="http://schemas.openxmlformats.org/officeDocument/2006/relationships/presProps" Target="/ppt/presProps.xml" Id="Rddf3aa77ce3a4463" /><Relationship Type="http://schemas.openxmlformats.org/officeDocument/2006/relationships/tableStyles" Target="/ppt/tableStyles.xml" Id="Rd1eb6fe7cc674b45" /><Relationship Type="http://schemas.openxmlformats.org/officeDocument/2006/relationships/slide" Target="/ppt/slides/slide1.xml" Id="Rb015efa6ee374572" /><Relationship Type="http://schemas.openxmlformats.org/officeDocument/2006/relationships/slide" Target="/ppt/slides/slide2.xml" Id="R237fd2d1afae482c" /><Relationship Type="http://schemas.openxmlformats.org/officeDocument/2006/relationships/slide" Target="/ppt/slides/slide3.xml" Id="Rcc9e975b67064524" /><Relationship Type="http://schemas.openxmlformats.org/officeDocument/2006/relationships/slide" Target="/ppt/slides/slide4.xml" Id="Rd258b2df74574738" /><Relationship Type="http://schemas.openxmlformats.org/officeDocument/2006/relationships/slide" Target="/ppt/slides/slide5.xml" Id="Rf8236740216f4c23" /><Relationship Type="http://schemas.openxmlformats.org/officeDocument/2006/relationships/slide" Target="/ppt/slides/slide6.xml" Id="Red04f2485a434c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749cff617246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807ac7dc2b4e71" /><Relationship Type="http://schemas.openxmlformats.org/officeDocument/2006/relationships/notesMaster" Target="/ppt/notesMasters/notesMaster1.xml" Id="R680d0d49d1df46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8d05f24e0449ab" /><Relationship Type="http://schemas.openxmlformats.org/officeDocument/2006/relationships/notesMaster" Target="/ppt/notesMasters/notesMaster1.xml" Id="R67b5797694e942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7b8e89f7c0c4ba1" /><Relationship Type="http://schemas.openxmlformats.org/officeDocument/2006/relationships/notesMaster" Target="/ppt/notesMasters/notesMaster1.xml" Id="R214b35ba7f5f48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4127ea376441d6" /><Relationship Type="http://schemas.openxmlformats.org/officeDocument/2006/relationships/notesMaster" Target="/ppt/notesMasters/notesMaster1.xml" Id="Rf19914403c5f4f0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4274568a274b1d" /><Relationship Type="http://schemas.openxmlformats.org/officeDocument/2006/relationships/notesMaster" Target="/ppt/notesMasters/notesMaster1.xml" Id="Ra785760d10824a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f04f1811ee4115" /><Relationship Type="http://schemas.openxmlformats.org/officeDocument/2006/relationships/notesMaster" Target="/ppt/notesMasters/notesMaster1.xml" Id="R5aad2c02bd6d46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来源相对路径：docs/submission/A-SYSTEM-DESIGN.md（§1 需求与边界）</a:t>
            </a:r>
          </a:p>
          <a:p xmlns:a="http://schemas.openxmlformats.org/drawingml/2006/main">
            <a:r>
              <a:t>本组件固定软件来源：main0e 0e508d147517f81dfe2b9245c45c0c0e30076592（PR82/88 已合并）</a:t>
            </a:r>
          </a:p>
          <a:p xmlns:a="http://schemas.openxmlformats.org/drawingml/2006/main">
            <a:r>
              <a:t>范围：两库三批同品种苹果、七测区十四逻辑设备；数据为软件模拟，非实物果品实验</a:t>
            </a:r>
          </a:p>
          <a:p xmlns:a="http://schemas.openxmlformats.org/drawingml/2006/main">
            <a:r>
              <a:t>未测/不代表：两通知终端实收、完整 E1、第二机、M01—M05 与实际投递均未签收。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来源相对路径：docs/submission/A-SYSTEM-DESIGN.md（§2 分层架构）</a:t>
            </a:r>
          </a:p>
          <a:p xmlns:a="http://schemas.openxmlformats.org/drawingml/2006/main">
            <a:r>
              <a:t>架构图来源：docs/submission/design/README.md；图已实际编译、渲染并逐张人工视觉检查</a:t>
            </a:r>
          </a:p>
          <a:p xmlns:a="http://schemas.openxmlformats.org/drawingml/2006/main">
            <a:r>
              <a:t>图中组件存在不表示所有后台调度已启用；通知实收为虚线，表示待验收</a:t>
            </a:r>
          </a:p>
          <a:p xmlns:a="http://schemas.openxmlformats.org/drawingml/2006/main">
            <a:r>
              <a:t>未测：B 独立持久派发、C 自动恢复、SMTP＋飞书两端实收仍未签收。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来源相对路径：docs/submission/A-TEST-REPORT-CANDIDATE.md、A64-INTEGRATION-CHECKPOINT.md</a:t>
            </a:r>
          </a:p>
          <a:p xmlns:a="http://schemas.openxmlformats.org/drawingml/2006/main">
            <a:r>
              <a:t>控制 ACK 截图：admin-real-ack.png，command_id 3aad6c63，set_cooling，execution_count=1，ACK 后温度下降</a:t>
            </a:r>
          </a:p>
          <a:p xmlns:a="http://schemas.openxmlformats.org/drawingml/2006/main">
            <a:r>
              <a:t>遥测截图（供 A 选用，本组件未嵌）：telemetry-real-history-raw-csv.png，snapshot 23 行、同筛选 CSV 23 行一致</a:t>
            </a:r>
          </a:p>
          <a:p xmlns:a="http://schemas.openxmlformats.org/drawingml/2006/main">
            <a:r>
              <a:t>边界：高温三批为 ASGI HTTP 到 B（非 TCP）；notifications_sent=0、complete_e1=false；不是完整 E1。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来源相对路径：docs/modules/A/65-guarded-recovery-delivery.md（受保护恢复后台发送候选）</a:t>
            </a:r>
          </a:p>
          <a:p xmlns:a="http://schemas.openxmlformats.org/drawingml/2006/main">
            <a:r>
              <a:t>十四设备证据：work/.../gated-fleet-7cc435cc846e4b25935d311fa624ca8d/gated-fleet.json（source=0e508d1）</a:t>
            </a:r>
          </a:p>
          <a:p xmlns:a="http://schemas.openxmlformats.org/drawingml/2006/main">
            <a:r>
              <a:t>受保护恢复证据：work/.../gated-a9aed80a7c84448d89612ba511419db9/runtime-composition.json（source_revision=1c85ae2）</a:t>
            </a:r>
          </a:p>
          <a:p xmlns:a="http://schemas.openxmlformats.org/drawingml/2006/main">
            <a:r>
              <a:t>未测/不代表：C 自动恢复、两终端实收、第二机、完整 E1；notifications_sent=0、complete_e1=false。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来源相对路径：docs/submission/design/README.md（A47 实际架构、ER 与数据字典）</a:t>
            </a:r>
          </a:p>
          <a:p xmlns:a="http://schemas.openxmlformats.org/drawingml/2006/main">
            <a:r>
              <a:t>镜像归档：image-archive-20261026231221-351a4765a356/image-archive.json；540MB tar 不读入 Git 或材料小包</a:t>
            </a:r>
          </a:p>
          <a:p xmlns:a="http://schemas.openxmlformats.org/drawingml/2006/main">
            <a:r>
              <a:t>33 表反射比较：notify-subset-.../design-schema-comparison.json，changed_table_definitions=[]</a:t>
            </a:r>
          </a:p>
          <a:p xmlns:a="http://schemas.openxmlformats.org/drawingml/2006/main">
            <a:r>
              <a:t>未测/不代表：镜像导入另一台电脑、运行依赖可用性、最终冻结版、完整 E1。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来源相对路径：docs/submission/README.md（发布阻断检查 S0/E1/F/第二机/M01—M05）</a:t>
            </a:r>
          </a:p>
          <a:p xmlns:a="http://schemas.openxmlformats.org/drawingml/2006/main">
            <a:r>
              <a:t>后端回归：本地 1446 passed / 0 skipped / 91%（终端口径）；适用云端 1444 passed / 2 skipped，分别列不加总</a:t>
            </a:r>
          </a:p>
          <a:p xmlns:a="http://schemas.openxmlformats.org/drawingml/2006/main">
            <a:r>
              <a:t>JUnit XML 汇总 tests=1755 含 subTests，不当新增独立用例；报告 work/a01-tests-20261026222407-79444/pytest.xml</a:t>
            </a:r>
          </a:p>
          <a:p xmlns:a="http://schemas.openxmlformats.org/drawingml/2006/main">
            <a:r>
              <a:t>未测/不代表：完整 E1、两渠道终端实收、最终冻结版第二机、M01—M05 成品与实际投递均未签收。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cc09425aa442d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bc61b584b34cb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589f6fedf74f4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db41cc25ee4c1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f86b403a094ea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a258721e0749b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CC6904B-3D9A-46C5-BED9-7453337D9F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CCA3D8E-9008-4976-A1F3-24AAB2CAA5E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F78A2C2-8F3B-4F56-AB6A-FFA5F206DB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FE463F4-8A34-4640-B48B-5BFB0D3C47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1803D42-3384-4B65-B6A2-BE6DDA1C91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CA7A047-31CB-467A-BCA0-CE449A3A17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A840671-1114-48B1-86EE-B30FFE0A62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8CD844A-8B89-4D26-9726-9F90F95EBF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59A4625-5CE0-44E5-BE7A-FE226CC01B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673600E-1A67-4FC8-8DA4-F68F50EF79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75afbd3a644182" /><Relationship Type="http://schemas.openxmlformats.org/officeDocument/2006/relationships/slideLayout" Target="/ppt/slideLayouts/slideLayout1.xml" Id="Rcf1d212db2844ce8" /><Relationship Type="http://schemas.openxmlformats.org/officeDocument/2006/relationships/slideLayout" Target="/ppt/slideLayouts/slideLayout2.xml" Id="Rd141d459a545488e" /><Relationship Type="http://schemas.openxmlformats.org/officeDocument/2006/relationships/slideLayout" Target="/ppt/slideLayouts/slideLayout3.xml" Id="R4b964e0c7bfb4fc9" /><Relationship Type="http://schemas.openxmlformats.org/officeDocument/2006/relationships/slideLayout" Target="/ppt/slideLayouts/slideLayout4.xml" Id="R2b91e9a9c81a4982" /><Relationship Type="http://schemas.openxmlformats.org/officeDocument/2006/relationships/slideLayout" Target="/ppt/slideLayouts/slideLayout5.xml" Id="R7d884451770d49b8" /><Relationship Type="http://schemas.openxmlformats.org/officeDocument/2006/relationships/slideLayout" Target="/ppt/slideLayouts/slideLayout6.xml" Id="R5115deb1f89b482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1d212db2844ce8"/>
    <p:sldLayoutId xmlns:r="http://schemas.openxmlformats.org/officeDocument/2006/relationships" id="2147483650" r:id="Rd141d459a545488e"/>
    <p:sldLayoutId xmlns:r="http://schemas.openxmlformats.org/officeDocument/2006/relationships" id="2147483651" r:id="R4b964e0c7bfb4fc9"/>
    <p:sldLayoutId xmlns:r="http://schemas.openxmlformats.org/officeDocument/2006/relationships" id="2147483652" r:id="R2b91e9a9c81a4982"/>
    <p:sldLayoutId xmlns:r="http://schemas.openxmlformats.org/officeDocument/2006/relationships" id="2147483653" r:id="R7d884451770d49b8"/>
    <p:sldLayoutId xmlns:r="http://schemas.openxmlformats.org/officeDocument/2006/relationships" id="2147483654" r:id="R5115deb1f89b482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01c1836e05455c" /><Relationship Type="http://schemas.openxmlformats.org/officeDocument/2006/relationships/notesSlide" Target="/ppt/notesSlides/notesSlide1.xml" Id="R5fd11f8f52b64b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dbefc9cf574966" /><Relationship Type="http://schemas.openxmlformats.org/officeDocument/2006/relationships/image" Target="/ppt/media/image.png" Id="R436072eb90064181" /><Relationship Type="http://schemas.openxmlformats.org/officeDocument/2006/relationships/notesSlide" Target="/ppt/notesSlides/notesSlide2.xml" Id="R4e2f509b45e94c3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6b150cadce4464" /><Relationship Type="http://schemas.openxmlformats.org/officeDocument/2006/relationships/image" Target="/ppt/media/image2.png" Id="R24466b5d90704f80" /><Relationship Type="http://schemas.openxmlformats.org/officeDocument/2006/relationships/notesSlide" Target="/ppt/notesSlides/notesSlide3.xml" Id="R973f0b84811545e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9eb7a4c5f24090" /><Relationship Type="http://schemas.openxmlformats.org/officeDocument/2006/relationships/notesSlide" Target="/ppt/notesSlides/notesSlide4.xml" Id="R77be64af590740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3e4835d66b4c81" /><Relationship Type="http://schemas.openxmlformats.org/officeDocument/2006/relationships/image" Target="/ppt/media/image3.png" Id="Rf11da72ebec84ec4" /><Relationship Type="http://schemas.openxmlformats.org/officeDocument/2006/relationships/notesSlide" Target="/ppt/notesSlides/notesSlide5.xml" Id="R80198f38c6fe452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8545ac7527467e" /><Relationship Type="http://schemas.openxmlformats.org/officeDocument/2006/relationships/notesSlide" Target="/ppt/notesSlides/notesSlide6.xml" Id="R282b56c7a2f14af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CFA2C6-9046-4E46-A284-C82991EFC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冷库业务与角色范围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39EB82-89CA-4C67-96E6-C66D4BB9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业务范围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20D025-43CC-49C8-97CE-DA028920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5334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两座苹果冷库、三批同品种苹果、七个测区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每区一个温度采集身份、一个制冷执行身份，共十四个逻辑设备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数据来自软件模拟，不是实物果品实验；阈值异常不代表真实腐败概率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7EEE32-E797-4C0D-A7CD-77F6579C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1920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数据与处置链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D0E733-D5CF-4521-8F29-A13FE30B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76400"/>
            <a:ext cx="50482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spcAft>
                <a:spcPts val="600"/>
              </a:spcAft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采集：</a:t>
            </a:r>
            <a:r>
              <a: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设备温度消息持续上报</a:t>
            </a:r>
          </a:p>
          <a:p xmlns:a="http://schemas.openxmlformats.org/drawingml/2006/main">
            <a:pPr>
              <a:spcAft>
                <a:spcPts val="600"/>
              </a:spcAft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观测：</a:t>
            </a:r>
            <a:r>
              <a: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原始、清洗、历史与同筛选 CSV</a:t>
            </a:r>
          </a:p>
          <a:p xmlns:a="http://schemas.openxmlformats.org/drawingml/2006/main">
            <a:pPr>
              <a:spcAft>
                <a:spcPts val="600"/>
              </a:spcAft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判定：</a:t>
            </a:r>
            <a:r>
              <a: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B 版本化规则判断异常</a:t>
            </a:r>
          </a:p>
          <a:p xmlns:a="http://schemas.openxmlformats.org/drawingml/2006/main">
            <a:pPr>
              <a:spcAft>
                <a:spcPts val="600"/>
              </a:spcAft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处置：</a:t>
            </a:r>
            <a:r>
              <a: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下发制冷命令、产生告警并保留追溯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648018-92C5-4EEE-86EF-153076FB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角色分工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B3333D-8E9B-461B-8F50-E5E19B93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spcAft>
                <a:spcPts val="300"/>
              </a:spcAft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A：</a:t>
            </a: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设备注册、在线状态、MQTT 接纳、控制回执与数据链接线</a:t>
            </a:r>
          </a:p>
          <a:p xmlns:a="http://schemas.openxmlformats.org/drawingml/2006/main">
            <a:pPr>
              <a:spcAft>
                <a:spcPts val="300"/>
              </a:spcAft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B：</a:t>
            </a: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冷库批次、规则、告警处置、两种通知与追溯</a:t>
            </a:r>
          </a:p>
          <a:p xmlns:a="http://schemas.openxmlformats.org/drawingml/2006/main">
            <a:pPr>
              <a:spcAft>
                <a:spcPts val="0"/>
              </a:spcAft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C：</a:t>
            </a: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遥测清洗、质量、历史、快照 CSV 与风险评价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F1149F-983C-45D4-A598-0D38444C4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来源 docs/submission/A-SYSTEM-DESIGN.md §1；软件来源 main0e 0e508d1</a:t>
            </a:r>
          </a:p>
        </p:txBody>
      </p:sp>
    </p:spTree>
    <p:extLst>
      <p:ext uri="{BB962C8B-B14F-4D97-AF65-F5344CB8AC3E}">
        <p14:creationId xmlns:p14="http://schemas.microsoft.com/office/powerpoint/2010/main" val="704201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0B7A7C-5603-4312-A61F-02889319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共享系统架构与模块归属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2501CA-EFF8-415C-A1D6-2998CC5C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分层与归属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D95AF0-ACB1-4746-ACF0-C0420816F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4381500" cy="438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展示层：React/TypeScript/Vite，公共认证与导航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HTTP 层：FastAPI，总入口一次挂载 API_V1_STR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A 入口：注册、心跳在线、MQTT 接纳、控制回执、A→B 投递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B 规则告警：批次、版本化规则、异常事件、通知 attempt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C 数据质量：raw/质量、历史、固定快照 CSV、评价与 outbox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存储：PostgreSQL 业务库 + Mosquitto 消息路由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ED900A-5BCD-4670-8956-09E862F194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6072eb90064181"/>
          <a:stretch xmlns:a="http://schemas.openxmlformats.org/drawingml/2006/main"/>
        </p:blipFill>
        <p:spPr>
          <a:xfrm xmlns:a="http://schemas.openxmlformats.org/drawingml/2006/main">
            <a:off x="5334000" y="1329761"/>
            <a:ext cx="6172200" cy="461757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5ABA46-4AD1-40D4-91C1-8E7DCE700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图 docs/submission/design/tikz_architecture.png（TikZ 源 tikz_architecture.tex）</a:t>
            </a:r>
          </a:p>
        </p:txBody>
      </p:sp>
    </p:spTree>
    <p:extLst>
      <p:ext uri="{BB962C8B-B14F-4D97-AF65-F5344CB8AC3E}">
        <p14:creationId xmlns:p14="http://schemas.microsoft.com/office/powerpoint/2010/main" val="1629400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C26A16-2268-4E34-B40C-A923E237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采集、控制与恢复的实际证据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C9F19A-5F48-460F-B8FF-BCC9660F3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已分段证明（main0e）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10F6C6-AA32-4236-A4B7-0B46FCF6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5334000" cy="438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采集：真实 MQTT 温度消息 → A 校验身份/绑定并持久接纳 → C 同事务保存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观测：raw/清洗/历史与同筛选 CSV 完整 ID 对拍（浏览器 23 行一致）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控制：下发 set_cooling → MQTT 执行 → 设备 ACK → 后续采样降温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恢复：后台受保护 TCP 恢复发送，回读原异常 resolved（见第 4 页）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控制实测 10.003187 → 9.851915 °C，是软件仿真，非实物制冷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AFB3D0-4DA6-4B68-9CC5-80F1C0C40C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466b5d90704f80"/>
          <a:stretch xmlns:a="http://schemas.openxmlformats.org/drawingml/2006/main"/>
        </p:blipFill>
        <p:spPr>
          <a:xfrm xmlns:a="http://schemas.openxmlformats.org/drawingml/2006/main">
            <a:off x="6286500" y="1622524"/>
            <a:ext cx="5219700" cy="367010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918C32-F231-4383-9DEB-BAF3F6EA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 control-browser-20261027001102-63760/browser.json 与 server.json；main0e</a:t>
            </a:r>
          </a:p>
        </p:txBody>
      </p:sp>
    </p:spTree>
    <p:extLst>
      <p:ext uri="{BB962C8B-B14F-4D97-AF65-F5344CB8AC3E}">
        <p14:creationId xmlns:p14="http://schemas.microsoft.com/office/powerpoint/2010/main" val="19431303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969486-8E6B-48B0-AA62-32FE4009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受保护的恢复后台发送与同版十四设备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500ECE-413F-472D-B02E-60272788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main0e 受保护恢复：提交成功且连接释放后才 CAS 领取、fenced 回执，重启不重发。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648D83-5C79-4570-A648-73C9E6CE29B1}"/>
              </a:ext>
            </a:extLst>
          </p:cNvPr>
          <p:cNvGraphicFramePr/>
          <p:nvPr/>
        </p:nvGraphicFramePr>
        <p:xfrm>
          <a:off xmlns:a="http://schemas.openxmlformats.org/drawingml/2006/main" x="685800" y="1695450"/>
          <a:ext xmlns:a="http://schemas.openxmlformats.org/drawingml/2006/main" cx="108204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5334000"/>
                <a:gridCol w="3390900"/>
              </a:tblGrid>
              <a:tr h="8001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运行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E2E8F0"/>
                      </a:solidFill>
                      <a:prstDash val="solid"/>
                    </a:lnL>
                    <a:lnR w="9525">
                      <a:solidFill>
                        <a:srgbClr val="E2E8F0"/>
                      </a:solidFill>
                      <a:prstDash val="solid"/>
                    </a:lnR>
                    <a:lnT w="9525">
                      <a:solidFill>
                        <a:srgbClr val="E2E8F0"/>
                      </a:solidFill>
                      <a:prstDash val="solid"/>
                    </a:lnT>
                    <a:lnB w="9525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实际结果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E2E8F0"/>
                      </a:solidFill>
                      <a:prstDash val="solid"/>
                    </a:lnR>
                    <a:lnT w="9525">
                      <a:solidFill>
                        <a:srgbClr val="E2E8F0"/>
                      </a:solidFill>
                      <a:prstDash val="solid"/>
                    </a:lnT>
                    <a:lnB w="9525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边界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E2E8F0"/>
                      </a:solidFill>
                      <a:prstDash val="solid"/>
                    </a:lnR>
                    <a:lnT w="9525">
                      <a:solidFill>
                        <a:srgbClr val="E2E8F0"/>
                      </a:solidFill>
                      <a:prstDash val="solid"/>
                    </a:lnT>
                    <a:lnB w="9525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F172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十四设备同版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E2E8F0"/>
                      </a:solidFill>
                      <a:prstDash val="solid"/>
                    </a:lnL>
                    <a:lnR w="9525">
                      <a:solidFill>
                        <a:srgbClr val="E2E8F0"/>
                      </a:solidFill>
                      <a:prstDash val="solid"/>
                    </a:lnR>
                    <a:lnB w="9525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F172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两库三批、14 在线、7 采集流、7 执行器 ACK 后降温、14 离线恢复追溯、重启不重发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E2E8F0"/>
                      </a:solidFill>
                      <a:prstDash val="solid"/>
                    </a:lnR>
                    <a:lnB w="9525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F172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注册 ID 是显式 ACL 夹具，非注册 API 实测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E2E8F0"/>
                      </a:solidFill>
                      <a:prstDash val="solid"/>
                    </a:lnR>
                    <a:lnB w="9525">
                      <a:solidFill>
                        <a:srgbClr val="E2E8F0"/>
                      </a:solidFill>
                      <a:prstDash val="soli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F172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多批高温候选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E2E8F0"/>
                      </a:solidFill>
                      <a:prstDash val="solid"/>
                    </a:lnL>
                    <a:lnR w="9525">
                      <a:solidFill>
                        <a:srgbClr val="E2E8F0"/>
                      </a:solidFill>
                      <a:prstDash val="solid"/>
                    </a:lnR>
                    <a:lnB w="9525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F172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批经鉴权 ASGI HTTP 到 B，来源回读批次/规则版本匹配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E2E8F0"/>
                      </a:solidFill>
                      <a:prstDash val="solid"/>
                    </a:lnR>
                    <a:lnB w="9525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F172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ASGI 不是 TCP；显式规则切换，非物理果品升温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E2E8F0"/>
                      </a:solidFill>
                      <a:prstDash val="solid"/>
                    </a:lnR>
                    <a:lnB w="9525">
                      <a:solidFill>
                        <a:srgbClr val="E2E8F0"/>
                      </a:solidFill>
                      <a:prstDash val="soli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F172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受保护恢复后台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E2E8F0"/>
                      </a:solidFill>
                      <a:prstDash val="solid"/>
                    </a:lnL>
                    <a:lnR w="9525">
                      <a:solidFill>
                        <a:srgbClr val="E2E8F0"/>
                      </a:solidFill>
                      <a:prstDash val="solid"/>
                    </a:lnR>
                    <a:lnB w="9525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F172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独立 TCP 进程 CAS 领取并回读原异常 resolved；重启一次不重复投递，attempt=1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E2E8F0"/>
                      </a:solidFill>
                      <a:prstDash val="solid"/>
                    </a:lnR>
                    <a:lnB w="9525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F172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notifications_sent=0，非终端实收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E2E8F0"/>
                      </a:solidFill>
                      <a:prstDash val="solid"/>
                    </a:lnR>
                    <a:lnB w="9525">
                      <a:solidFill>
                        <a:srgbClr val="E2E8F0"/>
                      </a:solidFill>
                      <a:prstDash val="soli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F172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迟到更正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E2E8F0"/>
                      </a:solidFill>
                      <a:prstDash val="solid"/>
                    </a:lnL>
                    <a:lnR w="9525">
                      <a:solidFill>
                        <a:srgbClr val="E2E8F0"/>
                      </a:solidFill>
                      <a:prstDash val="solid"/>
                    </a:lnR>
                    <a:lnB w="9525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F172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独立更正进程 → B 双 ID 追溯、控制 ACK 及后续数据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E2E8F0"/>
                      </a:solidFill>
                      <a:prstDash val="solid"/>
                    </a:lnR>
                    <a:lnB w="9525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F172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仍有 held 组合未证明自动收敛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E2E8F0"/>
                      </a:solidFill>
                      <a:prstDash val="solid"/>
                    </a:lnR>
                    <a:lnB w="9525">
                      <a:solidFill>
                        <a:srgbClr val="E2E8F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31AB81-D471-469B-9608-64EB778B5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 docs/modules/A/65-guarded-recovery-delivery.md；A64-INTEGRATION-CHECKPOINT.md；gated-fleet.json</a:t>
            </a:r>
          </a:p>
        </p:txBody>
      </p:sp>
    </p:spTree>
    <p:extLst>
      <p:ext uri="{BB962C8B-B14F-4D97-AF65-F5344CB8AC3E}">
        <p14:creationId xmlns:p14="http://schemas.microsoft.com/office/powerpoint/2010/main" val="16031296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555F7F-A148-4231-B3B7-D369D4B08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同版应用镜像与 33 表 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FE22BC-1B0E-42D8-AA62-4FE70504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应用镜像与数据库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24111F-509B-4C67-8775-E10C7200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4953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应用镜像归档 540475904 字节，sha256 f7a5e3d5…bc0b806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默认 CMD 真实 HTTP：健康、登录、注册、重复拒绝、详情通过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33 表只读反射无 schema 变化；19 核心实体、17 条真实外键边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唯一迁移链 A03→B01→A04→A05→C01 空库升级/check 通过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导入/第二机仍未验证，不等于可运行交付已签收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275809-99DA-4582-943A-E3543AE887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1da72ebec84ec4"/>
          <a:stretch xmlns:a="http://schemas.openxmlformats.org/drawingml/2006/main"/>
        </p:blipFill>
        <p:spPr>
          <a:xfrm xmlns:a="http://schemas.openxmlformats.org/drawingml/2006/main">
            <a:off x="5905500" y="1313236"/>
            <a:ext cx="5600700" cy="303137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EBB326-2002-4162-97C9-CC0FBD8E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33900"/>
            <a:ext cx="56007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spcAft>
                <a:spcPts val="300"/>
              </a:spcAft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图：</a:t>
            </a:r>
            <a:r>
              <a: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设备、心跳、在线离线事件、控制命令/尝试/执行回执</a:t>
            </a:r>
          </a:p>
          <a:p xmlns:a="http://schemas.openxmlformats.org/drawingml/2006/main">
            <a:pPr>
              <a:spcAft>
                <a:spcPts val="0"/>
              </a:spcAft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来源：</a:t>
            </a:r>
            <a:r>
              <a: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docs/submission/design/tikz_er_a.png（只展示真实外键）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C02A3E-548C-4C21-BF01-FCD23B153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 image-archive.json、application-http.json、design-schema-comparison.json；main0e</a:t>
            </a:r>
          </a:p>
        </p:txBody>
      </p:sp>
    </p:spTree>
    <p:extLst>
      <p:ext uri="{BB962C8B-B14F-4D97-AF65-F5344CB8AC3E}">
        <p14:creationId xmlns:p14="http://schemas.microsoft.com/office/powerpoint/2010/main" val="9973355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48044C-211F-40D2-9B64-D392E920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诚实剩余验收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5E766D-3A31-4366-8061-86B5C8668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已通过的候选能力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1BFFA7-5F01-4A72-9534-79949ACC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5334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设备注册/在线、控制命令与执行 ACK、后续温度下降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raw/清洗/历史与同筛选 CSV 完整对拍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唯一迁移链空库升级、33 表反射、受保护恢复后台 TCP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同版十四设备分段、后端 1446 用例 / 0 跳过 / 91%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6D1D74-1482-4BE0-8F30-AA99B2FC9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1920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待填，不勾选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7EC375-A622-40F8-AC89-845ED673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76400"/>
            <a:ext cx="5048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SMTP 与飞书手机端两渠道授权实收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同一冻结版本完整 E1 与最终第二机复现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C 自动恢复与多批高温业务收尾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M01—M05 汇编与实际投递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2176F8-3455-4CA3-AA19-186D76CC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本材料只标候选与分段证据；最终勾选须等真实结果与同版复核，不伪造截图、收件或通过勾号。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7CE749-D5F0-4F96-9073-66AFACD8B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交付门禁 docs/submission/README.md；main0e 是软件来源，不代表完整 E1 已验收</a:t>
            </a:r>
          </a:p>
        </p:txBody>
      </p:sp>
    </p:spTree>
    <p:extLst>
      <p:ext uri="{BB962C8B-B14F-4D97-AF65-F5344CB8AC3E}">
        <p14:creationId xmlns:p14="http://schemas.microsoft.com/office/powerpoint/2010/main" val="747063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2026-10-26T16:22:24.7030000Z</dcterms:created>
  <dcterms:modified xsi:type="dcterms:W3CDTF">2026-10-26T16:22:24.7030000Z</dcterms:modified>
</coreProperties>
</file>