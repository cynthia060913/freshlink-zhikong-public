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151196c7042fa" /><Relationship Type="http://schemas.openxmlformats.org/officeDocument/2006/relationships/extended-properties" Target="/docProps/app.xml" Id="R51dcc6c8857547cf" /><Relationship Type="http://schemas.openxmlformats.org/officeDocument/2006/relationships/officeDocument" Target="/ppt/presentation.xml" Id="Rba37c12050cf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e39c33fab48fc"/>
  </p:sldMasterIdLst>
  <p:notesMasterIdLst>
    <p:notesMasterId xmlns:r="http://schemas.openxmlformats.org/officeDocument/2006/relationships" r:id="Rd5f47419fb10407a"/>
  </p:notesMasterIdLst>
  <p:sldIdLst>
    <p:sldId xmlns:r="http://schemas.openxmlformats.org/officeDocument/2006/relationships" id="256" r:id="R1bf3077e15344753"/>
    <p:sldId xmlns:r="http://schemas.openxmlformats.org/officeDocument/2006/relationships" id="257" r:id="R4e303f1a328a4fb1"/>
    <p:sldId xmlns:r="http://schemas.openxmlformats.org/officeDocument/2006/relationships" id="258" r:id="R1fc8003a709d4d43"/>
    <p:sldId xmlns:r="http://schemas.openxmlformats.org/officeDocument/2006/relationships" id="259" r:id="R77595a8256b24026"/>
    <p:sldId xmlns:r="http://schemas.openxmlformats.org/officeDocument/2006/relationships" id="260" r:id="R3ced44106e294946"/>
    <p:sldId xmlns:r="http://schemas.openxmlformats.org/officeDocument/2006/relationships" id="261" r:id="R85c9d36c15624e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ba907643c477e" /><Relationship Type="http://schemas.openxmlformats.org/officeDocument/2006/relationships/slideMaster" Target="/ppt/slideMasters/slideMaster1.xml" Id="R198e39c33fab48fc" /><Relationship Type="http://schemas.openxmlformats.org/officeDocument/2006/relationships/notesMaster" Target="/ppt/notesMasters/notesMaster1.xml" Id="Rd5f47419fb10407a" /><Relationship Type="http://schemas.openxmlformats.org/officeDocument/2006/relationships/presProps" Target="/ppt/presProps.xml" Id="R74d9c5191b3b42cc" /><Relationship Type="http://schemas.openxmlformats.org/officeDocument/2006/relationships/tableStyles" Target="/ppt/tableStyles.xml" Id="R73a6326b831c47fe" /><Relationship Type="http://schemas.openxmlformats.org/officeDocument/2006/relationships/slide" Target="/ppt/slides/slide1.xml" Id="R1bf3077e15344753" /><Relationship Type="http://schemas.openxmlformats.org/officeDocument/2006/relationships/slide" Target="/ppt/slides/slide2.xml" Id="R4e303f1a328a4fb1" /><Relationship Type="http://schemas.openxmlformats.org/officeDocument/2006/relationships/slide" Target="/ppt/slides/slide3.xml" Id="R1fc8003a709d4d43" /><Relationship Type="http://schemas.openxmlformats.org/officeDocument/2006/relationships/slide" Target="/ppt/slides/slide4.xml" Id="R77595a8256b24026" /><Relationship Type="http://schemas.openxmlformats.org/officeDocument/2006/relationships/slide" Target="/ppt/slides/slide5.xml" Id="R3ced44106e294946" /><Relationship Type="http://schemas.openxmlformats.org/officeDocument/2006/relationships/slide" Target="/ppt/slides/slide6.xml" Id="R85c9d36c1562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196bae46e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a20f7b6cc241e1" /><Relationship Type="http://schemas.openxmlformats.org/officeDocument/2006/relationships/notesMaster" Target="/ppt/notesMasters/notesMaster1.xml" Id="Re81f49f365e0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e8c99dad054d52" /><Relationship Type="http://schemas.openxmlformats.org/officeDocument/2006/relationships/notesMaster" Target="/ppt/notesMasters/notesMaster1.xml" Id="Rfa5f853b25f3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0d249b33548b6" /><Relationship Type="http://schemas.openxmlformats.org/officeDocument/2006/relationships/notesMaster" Target="/ppt/notesMasters/notesMaster1.xml" Id="R115194a6495d47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64abb97fc040b6" /><Relationship Type="http://schemas.openxmlformats.org/officeDocument/2006/relationships/notesMaster" Target="/ppt/notesMasters/notesMaster1.xml" Id="R930ebeae10234a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3dfd494a3d4a81" /><Relationship Type="http://schemas.openxmlformats.org/officeDocument/2006/relationships/notesMaster" Target="/ppt/notesMasters/notesMaster1.xml" Id="Rff2cf8c5afe740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c44b26a4c486e" /><Relationship Type="http://schemas.openxmlformats.org/officeDocument/2006/relationships/notesMaster" Target="/ppt/notesMasters/notesMaster1.xml" Id="Rdfc69c2c25ff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来源相对路径：docs/submission/A-SYSTEM-DESIGN.md（§1 需求与边界）</a:t>
            </a:r>
          </a:p>
          <a:p xmlns:a="http://schemas.openxmlformats.org/drawingml/2006/main">
            <a:r>
              <a:t>本组件固定软件来源：main0e 0e508d147517f81dfe2b9245c45c0c0e30076592（PR82/88 已合并）</a:t>
            </a:r>
          </a:p>
          <a:p xmlns:a="http://schemas.openxmlformats.org/drawingml/2006/main">
            <a:r>
              <a:t>范围：两库三批同品种苹果、七测区十四逻辑设备；数据为软件模拟，非实物果品实验</a:t>
            </a:r>
          </a:p>
          <a:p xmlns:a="http://schemas.openxmlformats.org/drawingml/2006/main">
            <a:r>
              <a:t>未测/不代表：两通知终端实收、完整 E1、第二机、M01—M05 与实际投递均未签收。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来源相对路径：docs/submission/A-SYSTEM-DESIGN.md（§2 分层架构）</a:t>
            </a:r>
          </a:p>
          <a:p xmlns:a="http://schemas.openxmlformats.org/drawingml/2006/main">
            <a:r>
              <a:t>架构图来源：docs/submission/design/README.md；图已实际编译、渲染并逐张人工视觉检查</a:t>
            </a:r>
          </a:p>
          <a:p xmlns:a="http://schemas.openxmlformats.org/drawingml/2006/main">
            <a:r>
              <a:t>图中组件存在不表示所有后台调度已启用；通知实收为虚线，表示待验收</a:t>
            </a:r>
          </a:p>
          <a:p xmlns:a="http://schemas.openxmlformats.org/drawingml/2006/main">
            <a:r>
              <a:t>未测：B 独立持久派发、C 自动恢复、SMTP＋飞书两端实收仍未签收。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来源相对路径：docs/submission/A-TEST-REPORT-CANDIDATE.md、A64-INTEGRATION-CHECKPOINT.md</a:t>
            </a:r>
          </a:p>
          <a:p xmlns:a="http://schemas.openxmlformats.org/drawingml/2006/main">
            <a:r>
              <a:t>控制 ACK 截图：admin-real-ack.png，command_id 3aad6c63，set_cooling，execution_count=1，ACK 后温度下降</a:t>
            </a:r>
          </a:p>
          <a:p xmlns:a="http://schemas.openxmlformats.org/drawingml/2006/main">
            <a:r>
              <a:t>遥测截图（供 A 选用，本组件未嵌）：telemetry-real-history-raw-csv.png，snapshot 23 行、同筛选 CSV 23 行一致</a:t>
            </a:r>
          </a:p>
          <a:p xmlns:a="http://schemas.openxmlformats.org/drawingml/2006/main">
            <a:r>
              <a:t>边界：高温三批为 ASGI HTTP 到 B（非 TCP）；notifications_sent=0、complete_e1=false；不是完整 E1。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来源相对路径：docs/modules/A/65-guarded-recovery-delivery.md（受保护恢复后台发送候选）</a:t>
            </a:r>
          </a:p>
          <a:p xmlns:a="http://schemas.openxmlformats.org/drawingml/2006/main">
            <a:r>
              <a:t>十四设备证据：work/.../gated-fleet-7cc435cc846e4b25935d311fa624ca8d/gated-fleet.json（source=0e508d1）</a:t>
            </a:r>
          </a:p>
          <a:p xmlns:a="http://schemas.openxmlformats.org/drawingml/2006/main">
            <a:r>
              <a:t>受保护恢复证据：work/.../gated-a9aed80a7c84448d89612ba511419db9/runtime-composition.json（source_revision=1c85ae2）</a:t>
            </a:r>
          </a:p>
          <a:p xmlns:a="http://schemas.openxmlformats.org/drawingml/2006/main">
            <a:r>
              <a:t>未测/不代表：C 自动恢复、两终端实收、第二机、完整 E1；notifications_sent=0、complete_e1=false。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来源相对路径：docs/submission/design/README.md（A47 实际架构、ER 与数据字典）</a:t>
            </a:r>
          </a:p>
          <a:p xmlns:a="http://schemas.openxmlformats.org/drawingml/2006/main">
            <a:r>
              <a:t>镜像归档：image-archive-20261026231221-351a4765a356/image-archive.json；540MB tar 不读入 Git 或材料小包</a:t>
            </a:r>
          </a:p>
          <a:p xmlns:a="http://schemas.openxmlformats.org/drawingml/2006/main">
            <a:r>
              <a:t>33 表反射比较：notify-subset-.../design-schema-comparison.json，changed_table_definitions=[]</a:t>
            </a:r>
          </a:p>
          <a:p xmlns:a="http://schemas.openxmlformats.org/drawingml/2006/main">
            <a:r>
              <a:t>未测/不代表：镜像导入另一台电脑、运行依赖可用性、最终冻结版、完整 E1。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来源相对路径：docs/submission/README.md（发布阻断检查 S0/E1/F/第二机/M01—M05）</a:t>
            </a:r>
          </a:p>
          <a:p xmlns:a="http://schemas.openxmlformats.org/drawingml/2006/main">
            <a:r>
              <a:t>后端回归：本地 1446 passed / 0 skipped / 91%（终端口径）；适用云端 1444 passed / 2 skipped，分别列不加总</a:t>
            </a:r>
          </a:p>
          <a:p xmlns:a="http://schemas.openxmlformats.org/drawingml/2006/main">
            <a:r>
              <a:t>JUnit XML 汇总 tests=1755 含 subTests，不当新增独立用例；报告 work/a01-tests-20261026222407-79444/pytest.xml</a:t>
            </a:r>
          </a:p>
          <a:p xmlns:a="http://schemas.openxmlformats.org/drawingml/2006/main">
            <a:r>
              <a:t>未测/不代表：完整 E1、两渠道终端实收、最终冻结版第二机、M01—M05 成品与实际投递均未签收。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508fb84c4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fc8f94b5244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9aa7b800444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35ba4451340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f9ea47f3a42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70b01336a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15A25-2607-4DFC-8D42-932A485DF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C47256-17C4-4203-94BF-FBBE56F35A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67836D-9549-49C6-856A-2DBB68988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C8D8A-7835-4D29-B1BF-29956DEF1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1A032F-4848-4113-A4D0-D1D8216E4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515D6D-4BCE-4CC9-8D2E-51908BABE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295370-8447-4F08-A46B-6C9EE8676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0FF4E3-E042-426F-A69D-E5C55D99D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E2DF9-06E5-49DA-8243-CEEB35FF8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BD7877-EE2A-4BD9-877D-F25B7870A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aca5df15b4d9b" /><Relationship Type="http://schemas.openxmlformats.org/officeDocument/2006/relationships/slideLayout" Target="/ppt/slideLayouts/slideLayout1.xml" Id="R0c23e21051e34b81" /><Relationship Type="http://schemas.openxmlformats.org/officeDocument/2006/relationships/slideLayout" Target="/ppt/slideLayouts/slideLayout2.xml" Id="Re849ae78b0c841c4" /><Relationship Type="http://schemas.openxmlformats.org/officeDocument/2006/relationships/slideLayout" Target="/ppt/slideLayouts/slideLayout3.xml" Id="R763616f79b064515" /><Relationship Type="http://schemas.openxmlformats.org/officeDocument/2006/relationships/slideLayout" Target="/ppt/slideLayouts/slideLayout4.xml" Id="R88c233adb49f4eea" /><Relationship Type="http://schemas.openxmlformats.org/officeDocument/2006/relationships/slideLayout" Target="/ppt/slideLayouts/slideLayout5.xml" Id="R45777a8a5ccb45ba" /><Relationship Type="http://schemas.openxmlformats.org/officeDocument/2006/relationships/slideLayout" Target="/ppt/slideLayouts/slideLayout6.xml" Id="Rfb409fc3efb4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3e21051e34b81"/>
    <p:sldLayoutId xmlns:r="http://schemas.openxmlformats.org/officeDocument/2006/relationships" id="2147483650" r:id="Re849ae78b0c841c4"/>
    <p:sldLayoutId xmlns:r="http://schemas.openxmlformats.org/officeDocument/2006/relationships" id="2147483651" r:id="R763616f79b064515"/>
    <p:sldLayoutId xmlns:r="http://schemas.openxmlformats.org/officeDocument/2006/relationships" id="2147483652" r:id="R88c233adb49f4eea"/>
    <p:sldLayoutId xmlns:r="http://schemas.openxmlformats.org/officeDocument/2006/relationships" id="2147483653" r:id="R45777a8a5ccb45ba"/>
    <p:sldLayoutId xmlns:r="http://schemas.openxmlformats.org/officeDocument/2006/relationships" id="2147483654" r:id="Rfb409fc3efb4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0225ded2c43d5" /><Relationship Type="http://schemas.openxmlformats.org/officeDocument/2006/relationships/notesSlide" Target="/ppt/notesSlides/notesSlide1.xml" Id="R32010b96c0c84e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43786260644c4" /><Relationship Type="http://schemas.openxmlformats.org/officeDocument/2006/relationships/image" Target="/ppt/media/image.png" Id="R631d938372eb49f2" /><Relationship Type="http://schemas.openxmlformats.org/officeDocument/2006/relationships/notesSlide" Target="/ppt/notesSlides/notesSlide2.xml" Id="R69899d940219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79ca3f7f564262" /><Relationship Type="http://schemas.openxmlformats.org/officeDocument/2006/relationships/image" Target="/ppt/media/image2.png" Id="R32dc355687334451" /><Relationship Type="http://schemas.openxmlformats.org/officeDocument/2006/relationships/notesSlide" Target="/ppt/notesSlides/notesSlide3.xml" Id="R740dea18752642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9375cd7d54eb4" /><Relationship Type="http://schemas.openxmlformats.org/officeDocument/2006/relationships/notesSlide" Target="/ppt/notesSlides/notesSlide4.xml" Id="Rf44df80c196e43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9fe03ef334209" /><Relationship Type="http://schemas.openxmlformats.org/officeDocument/2006/relationships/image" Target="/ppt/media/image3.png" Id="Rcf60bb2a75774dea" /><Relationship Type="http://schemas.openxmlformats.org/officeDocument/2006/relationships/notesSlide" Target="/ppt/notesSlides/notesSlide5.xml" Id="R0de82f88509b4c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4beedea38d4655" /><Relationship Type="http://schemas.openxmlformats.org/officeDocument/2006/relationships/notesSlide" Target="/ppt/notesSlides/notesSlide6.xml" Id="Rbdd314fa3acf47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B2244-E120-4D26-AD67-BC3405C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冷库业务与角色范围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7E62E-CA4B-4B0E-A70C-F69498E6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73A34-2B96-4221-B431-28018307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两座苹果冷库、三批同品种苹果、七个测区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每区一个温度采集身份、一个制冷执行身份，共十四个逻辑设备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数据来自软件模拟，不是实物果品实验；阈值异常不代表真实腐败概率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C47C8-4CB0-46EA-A94A-5D2E841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数据与处置链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7B06-4005-4085-A11B-D04A2E64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600"/>
              </a:spcAft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采集：</a:t>
            </a: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设备温度消息持续上报</a:t>
            </a:r>
          </a:p>
          <a:p xmlns:a="http://schemas.openxmlformats.org/drawingml/2006/main">
            <a:pPr>
              <a:spcAft>
                <a:spcPts val="600"/>
              </a:spcAft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观测：</a:t>
            </a: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原始、清洗、历史与同筛选 CSV</a:t>
            </a:r>
          </a:p>
          <a:p xmlns:a="http://schemas.openxmlformats.org/drawingml/2006/main">
            <a:pPr>
              <a:spcAft>
                <a:spcPts val="600"/>
              </a:spcAft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判定：</a:t>
            </a: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 版本化规则判断异常</a:t>
            </a:r>
          </a:p>
          <a:p xmlns:a="http://schemas.openxmlformats.org/drawingml/2006/main">
            <a:pPr>
              <a:spcAft>
                <a:spcPts val="600"/>
              </a:spcAft>
              <a:def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处置：</a:t>
            </a:r>
            <a:r>
              <a:rPr sz="16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下发制冷命令、产生告警并保留追溯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6AB8E-C896-400E-9658-366C3CC2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角色分工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53D23-F793-4554-985A-B6E27867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A：</a:t>
            </a: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设备注册、在线状态、MQTT 接纳、控制回执与数据链接线</a:t>
            </a:r>
          </a:p>
          <a:p xmlns:a="http://schemas.openxmlformats.org/drawingml/2006/main">
            <a:pPr>
              <a:spcAft>
                <a:spcPts val="300"/>
              </a:spcAft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B：</a:t>
            </a: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冷库批次、规则、告警处置、两种通知与追溯</a:t>
            </a:r>
          </a:p>
          <a:p xmlns:a="http://schemas.openxmlformats.org/drawingml/2006/main">
            <a:pPr>
              <a:spcAft>
                <a:spcPts val="0"/>
              </a:spcAft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C：</a:t>
            </a: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遥测清洗、质量、历史、快照 CSV 与风险评价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BB175-A075-41C5-9810-95F65EB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 docs/submission/A-SYSTEM-DESIGN.md §1；软件来源 main0e 0e508d1</a:t>
            </a:r>
          </a:p>
        </p:txBody>
      </p:sp>
    </p:spTree>
    <p:extLst>
      <p:ext uri="{BB962C8B-B14F-4D97-AF65-F5344CB8AC3E}">
        <p14:creationId xmlns:p14="http://schemas.microsoft.com/office/powerpoint/2010/main" val="232249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459B-7A57-4129-904D-66BDD846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共享系统架构与模块归属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A8EA0-A2D9-4FE9-BC71-E4F09D82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分层与归属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176D1-BA9A-4270-B003-5EC05AE8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3815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展示层：React/TypeScript/Vite，公共认证与导航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HTTP 层：FastAPI，总入口一次挂载 API_V1_STR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 入口：注册、心跳在线、MQTT 接纳、控制回执、A→B 投递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 告警：批次与版本化规则、异常事件、通知 attempt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 数据质量：raw/质量、历史、固定快照 CSV、评价与 outbox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存储：PostgreSQL 业务库 + Mosquitto 消息路由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339BF-D19E-4EE3-93EC-05F9AC282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d938372eb49f2"/>
          <a:stretch xmlns:a="http://schemas.openxmlformats.org/drawingml/2006/main"/>
        </p:blipFill>
        <p:spPr>
          <a:xfrm xmlns:a="http://schemas.openxmlformats.org/drawingml/2006/main">
            <a:off x="5334000" y="1329761"/>
            <a:ext cx="6172200" cy="46175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35DF5-EB7A-4BD5-A766-9791C3B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 docs/submission/design/tikz_architecture.png（TikZ 源 tikz_architecture.tex）</a:t>
            </a:r>
          </a:p>
        </p:txBody>
      </p:sp>
    </p:spTree>
    <p:extLst>
      <p:ext uri="{BB962C8B-B14F-4D97-AF65-F5344CB8AC3E}">
        <p14:creationId xmlns:p14="http://schemas.microsoft.com/office/powerpoint/2010/main" val="15579253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F6284-2FB4-40F3-91DB-85C1CF3E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采集、控制与恢复的实际证据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94EF7-F9E3-43F4-B740-D638B3A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已分段证明（main0e）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355A6-7E75-4653-9CE8-95D82F62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采集：真实 MQTT 温度消息 → A 校验身份/绑定并持久接纳 → C 同事务保存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观测：raw/清洗/历史与同筛选 CSV 完整 ID 对拍（浏览器 23 行一致）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控制：下发 set_cooling → MQTT 执行 → 设备 ACK → 后续采样降温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恢复：后台受保护 TCP 恢复发送，回读原异常 resolved（见第 4 页）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控制实测 10.003187 → 9.851915 °C，是软件仿真，非实物制冷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82FEF-13A1-48AE-AF58-627325348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c355687334451"/>
          <a:stretch xmlns:a="http://schemas.openxmlformats.org/drawingml/2006/main"/>
        </p:blipFill>
        <p:spPr>
          <a:xfrm xmlns:a="http://schemas.openxmlformats.org/drawingml/2006/main">
            <a:off x="6286500" y="1622524"/>
            <a:ext cx="5219700" cy="367010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BA613-0971-436A-A387-754FFA8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 control-browser-20261027001102-63760/browser.json 与 server.json；main0e</a:t>
            </a:r>
          </a:p>
        </p:txBody>
      </p:sp>
    </p:spTree>
    <p:extLst>
      <p:ext uri="{BB962C8B-B14F-4D97-AF65-F5344CB8AC3E}">
        <p14:creationId xmlns:p14="http://schemas.microsoft.com/office/powerpoint/2010/main" val="1682376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81D7-418D-48A2-92AE-DE61236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受保护的恢复后台发送与同版十四设备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18C01-3C86-42CD-BF02-09F620D7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同一事务内 CAS 领取 → 提交并释放连接 → 锁外发送与回执；重启不重发。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A48C4-F019-4F39-A3EF-9EC99878D1D9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334000"/>
                <a:gridCol w="3390900"/>
              </a:tblGrid>
              <a:tr h="800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T w="9525">
                      <a:solidFill>
                        <a:srgbClr val="E2E8F0"/>
                      </a:solidFill>
                      <a:prstDash val="solid"/>
                    </a:lnT>
                    <a:lnB w="9525">
                      <a:solidFill>
                        <a:srgbClr val="E2E8F0"/>
                      </a:solidFill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十四设备同版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两库三批、14 在线、7 采集流、7 执行器 ACK 后降温、14 离线恢复追溯、重启不重发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 ID 是显式 ACL 夹具，非注册 API 实测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多批高温候选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批经鉴权 ASGI HTTP 到 B，来源回读批次/规则版本匹配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ASGI 不是 TCP；显式规则切换，非物理果品升温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受保护恢复后台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TCP 进程 CAS 领取并回读原异常 resolved；重启一次不重复投递，attempt=1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notifications_sent=0，非终端实收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迟到更正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2E8F0"/>
                      </a:solidFill>
                      <a:prstDash val="solid"/>
                    </a:lnL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独立更正进程 → B 双 ID 追溯、控制 ACK 及后续数据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仍有 held 组合未证明自动收敛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2E8F0"/>
                      </a:solidFill>
                      <a:prstDash val="solid"/>
                    </a:lnR>
                    <a:lnB w="9525">
                      <a:solidFill>
                        <a:srgbClr val="E2E8F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9A58B-A676-4489-BCBE-BC261237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 docs/modules/A/65-guarded-recovery-delivery.md；A64-INTEGRATION-CHECKPOINT.md；gated-fleet.json</a:t>
            </a:r>
          </a:p>
        </p:txBody>
      </p:sp>
    </p:spTree>
    <p:extLst>
      <p:ext uri="{BB962C8B-B14F-4D97-AF65-F5344CB8AC3E}">
        <p14:creationId xmlns:p14="http://schemas.microsoft.com/office/powerpoint/2010/main" val="1919809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FB69A-E0DD-4E33-9374-C92F867F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同版应用镜像与 33 表 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CDBB5-8CCE-41D8-8788-92CD3648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应用镜像与数据库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1287B-1864-4B4E-B264-4E34291A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应用镜像归档 540475904 字节，sha256 f7a5e3d5…bc0b806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默认 CMD 真实 HTTP：健康、登录、注册、重复拒绝、详情通过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33 表只读反射无 schema 变化；19 核心实体、17 条真实外键边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唯一迁移链 A03→B01→A04→A05→C01 空库升级/check 通过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导入/第二机仍未验证，不等于可运行交付已签收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B1020-C755-48BA-A05E-9B4A73BE5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0bb2a75774dea"/>
          <a:stretch xmlns:a="http://schemas.openxmlformats.org/drawingml/2006/main"/>
        </p:blipFill>
        <p:spPr>
          <a:xfrm xmlns:a="http://schemas.openxmlformats.org/drawingml/2006/main">
            <a:off x="5905500" y="1313236"/>
            <a:ext cx="5600700" cy="303137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2A61C-9FF3-4501-856C-D7867370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33900"/>
            <a:ext cx="5600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spcAft>
                <a:spcPts val="300"/>
              </a:spcAft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图：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设备、心跳、在线离线事件、控制命令/尝试/执行回执</a:t>
            </a:r>
          </a:p>
          <a:p xmlns:a="http://schemas.openxmlformats.org/drawingml/2006/main">
            <a:pPr>
              <a:spcAft>
                <a:spcPts val="0"/>
              </a:spcAft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docs/submission/design/tikz_er_a.png（只展示真实外键）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ADB09-3677-4730-B2E3-C28109F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 image-archive.json、application-http.json、design-schema-comparison.json；main0e</a:t>
            </a:r>
          </a:p>
        </p:txBody>
      </p:sp>
    </p:spTree>
    <p:extLst>
      <p:ext uri="{BB962C8B-B14F-4D97-AF65-F5344CB8AC3E}">
        <p14:creationId xmlns:p14="http://schemas.microsoft.com/office/powerpoint/2010/main" val="1764909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45862-5E62-4218-B559-2314F5AF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诚实剩余验收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9FBAF-8F81-4C13-8F8F-064025E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已通过的候选能力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45224-19FE-45EE-84BE-55CC5E21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334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设备注册/在线、控制命令与执行 ACK、后续温度下降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raw/清洗/历史与同筛选 CSV 完整对拍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唯一迁移链空库升级、33 表反射、受保护恢复后台 TCP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同版十四设备分段、后端 1446 用例 / 0 跳过 / 91%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97307-48A6-4B17-8464-85EF9CE5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19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待填，不勾选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9852B-4434-4CBF-B068-A3BB5713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SMTP 与飞书手机端两渠道授权实收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同一冻结版本完整 E1 与最终第二机复现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已证分段的同版联合验收与材料收尾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M01—M05 汇编与实际投递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8A20A-376A-4A15-BB34-A5B29FC2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本材料只标候选与分段证据；最终勾选须等真实结果与同版复核，不伪造截图、收件或通过勾号。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5AFA9-61C8-41F7-9F98-2A69074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交付门禁 docs/submission/README.md；main0e 是软件来源，不代表完整 E1 已验收</a:t>
            </a:r>
          </a:p>
        </p:txBody>
      </p:sp>
    </p:spTree>
    <p:extLst>
      <p:ext uri="{BB962C8B-B14F-4D97-AF65-F5344CB8AC3E}">
        <p14:creationId xmlns:p14="http://schemas.microsoft.com/office/powerpoint/2010/main" val="695506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2026-10-27T02:24:12.5540000Z</dcterms:created>
  <dcterms:modified xsi:type="dcterms:W3CDTF">2026-10-27T02:24:12.5540000Z</dcterms:modified>
</coreProperties>
</file>