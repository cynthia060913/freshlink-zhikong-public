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2151196c7042fa" /><Relationship Type="http://schemas.openxmlformats.org/officeDocument/2006/relationships/extended-properties" Target="/docProps/app.xml" Id="R51dcc6c8857547cf" /><Relationship Type="http://schemas.openxmlformats.org/officeDocument/2006/relationships/officeDocument" Target="/ppt/presentation.xml" Id="Rba37c12050cf4c04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0b7e91f218b247b0"/>
  </p:sldMasterIdLst>
  <p:sldIdLst>
    <p:sldId id="256" r:id="Rsld000"/>
    <p:sldId id="257" r:id="Rsld001"/>
    <p:sldId id="258" r:id="Rsld002"/>
    <p:sldId id="259" r:id="Rsld003"/>
    <p:sldId id="260" r:id="Rsld004"/>
    <p:sldId id="261" r:id="Rsld005"/>
    <p:sldId id="262" r:id="Rsld006"/>
    <p:sldId id="263" r:id="Rsld0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Type="http://schemas.openxmlformats.org/officeDocument/2006/relationships/theme" Target="/ppt/theme/theme1.xml" Id="Ra28f1c5d519f4fdc" /><Relationship Type="http://schemas.openxmlformats.org/officeDocument/2006/relationships/slideMaster" Target="/ppt/slideMasters/slideMaster1.xml" Id="R0b7e91f218b247b0" /><Relationship Type="http://schemas.openxmlformats.org/officeDocument/2006/relationships/presProps" Target="/ppt/presProps.xml" Id="R953de6ef23914f01" /><Relationship Type="http://schemas.openxmlformats.org/officeDocument/2006/relationships/tableStyles" Target="/ppt/tableStyles.xml" Id="R7aae1da014314ad8" /><Relationship Type="http://schemas.openxmlformats.org/officeDocument/2006/relationships/slide" Target="/ppt/slides/slide1.xml" Id="Rsld000" /><Relationship Type="http://schemas.openxmlformats.org/officeDocument/2006/relationships/slide" Target="/ppt/slides/slide2.xml" Id="Rsld001" /><Relationship Type="http://schemas.openxmlformats.org/officeDocument/2006/relationships/slide" Target="/ppt/slides/slide3.xml" Id="Rsld002" /><Relationship Type="http://schemas.openxmlformats.org/officeDocument/2006/relationships/slide" Target="/ppt/slides/slide4.xml" Id="Rsld003" /><Relationship Type="http://schemas.openxmlformats.org/officeDocument/2006/relationships/slide" Target="/ppt/slides/slide5.xml" Id="Rsld004" /><Relationship Type="http://schemas.openxmlformats.org/officeDocument/2006/relationships/slide" Target="/ppt/slides/slide6.xml" Id="Rsld005" /><Relationship Type="http://schemas.openxmlformats.org/officeDocument/2006/relationships/slide" Target="/ppt/slides/slide7.xml" Id="Rsld006" /><Relationship Type="http://schemas.openxmlformats.org/officeDocument/2006/relationships/slide" Target="/ppt/slides/slide8.xml" Id="Rsld00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f508fb84c4444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afc8f94b5244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9aa7b800444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35ba4451340a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5f9ea47f3a42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70b01336a44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D15A25-2607-4DFC-8D42-932A485DF6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AC47256-17C4-4203-94BF-FBBE56F35A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67836D-9549-49C6-856A-2DBB68988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C8D8A-7835-4D29-B1BF-29956DEF1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E1A032F-4848-4113-A4D0-D1D8216E47F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2515D6D-4BCE-4CC9-8D2E-51908BABEB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2295370-8447-4F08-A46B-6C9EE8676A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0FF4E3-E042-426F-A69D-E5C55D99DD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3E2DF9-06E5-49DA-8243-CEEB35FF83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EBD7877-EE2A-4BD9-877D-F25B7870A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1aca5df15b4d9b" /><Relationship Type="http://schemas.openxmlformats.org/officeDocument/2006/relationships/slideLayout" Target="/ppt/slideLayouts/slideLayout1.xml" Id="R0c23e21051e34b81" /><Relationship Type="http://schemas.openxmlformats.org/officeDocument/2006/relationships/slideLayout" Target="/ppt/slideLayouts/slideLayout2.xml" Id="Re849ae78b0c841c4" /><Relationship Type="http://schemas.openxmlformats.org/officeDocument/2006/relationships/slideLayout" Target="/ppt/slideLayouts/slideLayout3.xml" Id="R763616f79b064515" /><Relationship Type="http://schemas.openxmlformats.org/officeDocument/2006/relationships/slideLayout" Target="/ppt/slideLayouts/slideLayout4.xml" Id="R88c233adb49f4eea" /><Relationship Type="http://schemas.openxmlformats.org/officeDocument/2006/relationships/slideLayout" Target="/ppt/slideLayouts/slideLayout5.xml" Id="R45777a8a5ccb45ba" /><Relationship Type="http://schemas.openxmlformats.org/officeDocument/2006/relationships/slideLayout" Target="/ppt/slideLayouts/slideLayout6.xml" Id="Rfb409fc3efb44a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3e21051e34b81"/>
    <p:sldLayoutId xmlns:r="http://schemas.openxmlformats.org/officeDocument/2006/relationships" id="2147483650" r:id="Re849ae78b0c841c4"/>
    <p:sldLayoutId xmlns:r="http://schemas.openxmlformats.org/officeDocument/2006/relationships" id="2147483651" r:id="R763616f79b064515"/>
    <p:sldLayoutId xmlns:r="http://schemas.openxmlformats.org/officeDocument/2006/relationships" id="2147483652" r:id="R88c233adb49f4eea"/>
    <p:sldLayoutId xmlns:r="http://schemas.openxmlformats.org/officeDocument/2006/relationships" id="2147483653" r:id="R45777a8a5ccb45ba"/>
    <p:sldLayoutId xmlns:r="http://schemas.openxmlformats.org/officeDocument/2006/relationships" id="2147483654" r:id="Rfb409fc3efb44a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/Relationships>
</file>

<file path=ppt/slides/_rels/slide2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/Relationships>
</file>

<file path=ppt/slides/_rels/slide3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Relationship Type="http://schemas.openxmlformats.org/officeDocument/2006/relationships/image" Target="/ppt/media/current_architecture_e7.png" Id="Rarch100" /></Relationships>
</file>

<file path=ppt/slides/_rels/slide4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/Relationships>
</file>

<file path=ppt/slides/_rels/slide5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Relationship Type="http://schemas.openxmlformats.org/officeDocument/2006/relationships/image" Target="/ppt/media/tikz_er_b.png" Id="Rerb100" /></Relationships>
</file>

<file path=ppt/slides/_rels/slide6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/Relationships>
</file>

<file path=ppt/slides/_rels/slide7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/Relationships>
</file>

<file path=ppt/slides/_rels/slide8.xml.rels><?xml version="1.0" encoding="UTF-8" standalone="yes"?><Relationships xmlns="http://schemas.openxmlformats.org/package/2006/relationships"><Relationship Type="http://schemas.openxmlformats.org/officeDocument/2006/relationships/slideLayout" Target="/ppt/slideLayouts/slideLayout6.xml" Id="R036352927e214d08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鲜链智控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冷链仓储智能监控与告警处置系统</a:t>
            </a:r>
          </a:p>
        </p:txBody>
      </p:sp>
      <p:sp>
        <p:nvSpPr>
          <p:cNvPr id="10" name="cover"/>
          <p:cNvSpPr txBox="1"/>
          <p:nvPr/>
        </p:nvSpPr>
        <p:spPr>
          <a:xfrm>
            <a:off x="822960" y="2011680"/>
            <a:ext cx="10515600" cy="32918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400"/>
              </a:spcAft>
            </a:pPr>
            <a:r>
              <a:rPr lang="zh-CN" sz="2000" dirty="0">
                <a:solidFill>
                  <a:srgbClr val="334155"/>
                </a:solidFill>
                <a:latin typeface="Microsoft YaHei"/>
                <a:ea typeface="Microsoft YaHei"/>
              </a:rPr>
              <a:t>两座冷库 · 三批苹果 · 十四个仿真设备的采集、告警、处置与双渠道通知</a:t>
            </a:r>
          </a:p>
          <a:p>
            <a:pPr algn="l">
              <a:spcAft>
                <a:spcPts val="400"/>
              </a:spcAft>
            </a:pPr>
            <a:r>
              <a:rPr lang="zh-CN" sz="1600" dirty="0">
                <a:solidFill>
                  <a:srgbClr val="64748B"/>
                </a:solidFill>
                <a:latin typeface="Microsoft YaHei"/>
                <a:ea typeface="Microsoft YaHei"/>
              </a:rPr>
              <a:t>问题 → 方案 → 设备与数据 → 告警处置 → 通知 → 验证 → 限制</a:t>
            </a:r>
          </a:p>
          <a:p>
            <a:pPr algn="l">
              <a:spcAft>
                <a:spcPts val="200"/>
              </a:spcAft>
            </a:pPr>
            <a:r>
              <a:rPr lang="zh-CN" sz="1300" dirty="0">
                <a:solidFill>
                  <a:srgbClr val="64748B"/>
                </a:solidFill>
                <a:latin typeface="Microsoft YaHei"/>
                <a:ea typeface="Microsoft YaHei"/>
              </a:rPr>
              <a:t>材料基准：共同 main 319aa63（= 一库 E1 实测来源 e7fffd61，全 Git 树一致）</a:t>
            </a:r>
          </a:p>
          <a:p>
            <a:pPr algn="l">
              <a:spcAft>
                <a:spcPts val="0"/>
              </a:spcAft>
            </a:pPr>
            <a:r>
              <a:rPr lang="zh-CN" sz="1300" dirty="0">
                <a:solidFill>
                  <a:srgbClr val="64748B"/>
                </a:solidFill>
                <a:latin typeface="Microsoft YaHei"/>
                <a:ea typeface="Microsoft YaHei"/>
              </a:rPr>
              <a:t>分工：A 设备/架构/视频 · B 告警/通知/材料汇编 · C 数据/测试</a:t>
            </a:r>
          </a:p>
          <a:p>
            <a:pPr algn="l">
              <a:spcAft>
                <a:spcPts val="0"/>
              </a:spcAft>
            </a:pPr>
            <a:r>
              <a:rPr lang="zh-CN" sz="1100" dirty="0">
                <a:solidFill>
                  <a:srgbClr val="B45309"/>
                </a:solidFill>
                <a:latin typeface="Microsoft YaHei"/>
                <a:ea typeface="Microsoft YaHei"/>
              </a:rPr>
              <a:t>注：通知终端实收为竞赛硬要求，当前状态见第 6 页，未完成项如实标注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问题与需求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S2</a:t>
            </a:r>
          </a:p>
        </p:txBody>
      </p:sp>
      <p:sp>
        <p:nvSpPr>
          <p:cNvPr id="20" name="bullets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120"/>
              </a:spcAft>
            </a:pPr>
            <a:r>
              <a:rPr lang="zh-CN" sz="1600" b="1" dirty="0">
                <a:solidFill>
                  <a:srgbClr val="0F172A"/>
                </a:solidFill>
                <a:latin typeface="Microsoft YaHei"/>
                <a:ea typeface="Microsoft YaHei"/>
              </a:rPr>
              <a:t>业务对象</a:t>
            </a:r>
          </a:p>
          <a:p>
            <a:pPr algn="l">
              <a:spcAft>
                <a:spcPts val="120"/>
              </a:spcAft>
            </a:pPr>
            <a:r>
              <a:rPr lang="zh-CN" sz="1400" dirty="0">
                <a:solidFill>
                  <a:srgbClr val="334155"/>
                </a:solidFill>
                <a:latin typeface="Microsoft YaHei"/>
                <a:ea typeface="Microsoft YaHei"/>
              </a:rPr>
              <a:t>• 两座苹果冷库、三批同品种苹果；软件模拟七个测区，每区一个温度采集身份 + 一个制冷执行身份，共 14 个逻辑设备</a:t>
            </a:r>
          </a:p>
          <a:p>
            <a:pPr algn="l">
              <a:spcAft>
                <a:spcPts val="120"/>
              </a:spcAft>
            </a:pPr>
            <a:r>
              <a:rPr lang="zh-CN" sz="1200" dirty="0">
                <a:solidFill>
                  <a:srgbClr val="B45309"/>
                </a:solidFill>
                <a:latin typeface="Microsoft YaHei"/>
                <a:ea typeface="Microsoft YaHei"/>
              </a:rPr>
              <a:t>• 模拟数据不宣称真实果品品质实验；阈值异常不宣称真实腐败概率</a:t>
            </a:r>
          </a:p>
          <a:p>
            <a:pPr algn="l">
              <a:spcAft>
                <a:spcPts val="120"/>
              </a:spcAft>
            </a:pPr>
            <a:r>
              <a:rPr lang="zh-CN" sz="1600" b="1" dirty="0">
                <a:solidFill>
                  <a:srgbClr val="0F172A"/>
                </a:solidFill>
                <a:latin typeface="Microsoft YaHei"/>
                <a:ea typeface="Microsoft YaHei"/>
              </a:rPr>
              <a:t>必选功能（竞赛通知要求）</a:t>
            </a:r>
          </a:p>
          <a:p>
            <a:pPr algn="l">
              <a:spcAft>
                <a:spcPts val="120"/>
              </a:spcAft>
            </a:pPr>
            <a:r>
              <a:rPr lang="zh-CN" sz="1400" dirty="0">
                <a:solidFill>
                  <a:srgbClr val="334155"/>
                </a:solidFill>
                <a:latin typeface="Microsoft YaHei"/>
                <a:ea typeface="Microsoft YaHei"/>
              </a:rPr>
              <a:t>• 设备注册/绑定/在线状态：心跳停发判离线、重连恢复、故障溯源</a:t>
            </a:r>
          </a:p>
          <a:p>
            <a:pPr algn="l">
              <a:spcAft>
                <a:spcPts val="120"/>
              </a:spcAft>
            </a:pPr>
            <a:r>
              <a:rPr lang="zh-CN" sz="1400" dirty="0">
                <a:solidFill>
                  <a:srgbClr val="334155"/>
                </a:solidFill>
                <a:latin typeface="Microsoft YaHei"/>
                <a:ea typeface="Microsoft YaHei"/>
              </a:rPr>
              <a:t>• 实时采集/清洗/历史/导出：MQTT 持续采样 → raw/质量 → 同筛选历史与 CSV</a:t>
            </a:r>
          </a:p>
          <a:p>
            <a:pPr algn="l">
              <a:spcAft>
                <a:spcPts val="120"/>
              </a:spcAft>
            </a:pPr>
            <a:r>
              <a:rPr lang="zh-CN" sz="1400" dirty="0">
                <a:solidFill>
                  <a:srgbClr val="334155"/>
                </a:solidFill>
                <a:latin typeface="Microsoft YaHei"/>
                <a:ea typeface="Microsoft YaHei"/>
              </a:rPr>
              <a:t>• 至少两种告警且可追溯：人工 ACK 处置、机器判定恢复、晚到坏证据更正</a:t>
            </a:r>
          </a:p>
          <a:p>
            <a:pPr algn="l">
              <a:spcAft>
                <a:spcPts val="120"/>
              </a:spcAft>
            </a:pPr>
            <a:r>
              <a:rPr lang="zh-CN" sz="1400" dirty="0">
                <a:solidFill>
                  <a:srgbClr val="334155"/>
                </a:solidFill>
                <a:latin typeface="Microsoft YaHei"/>
                <a:ea typeface="Microsoft YaHei"/>
              </a:rPr>
              <a:t>• 人工控制闭环：下发 → 执行 ACK → 后续温度反映效果（页面“发送”不算已执行）</a:t>
            </a:r>
          </a:p>
          <a:p>
            <a:pPr algn="l">
              <a:spcAft>
                <a:spcPts val="120"/>
              </a:spcAft>
            </a:pPr>
            <a:r>
              <a:rPr lang="zh-CN" sz="1400" b="1" dirty="0">
                <a:solidFill>
                  <a:srgbClr val="B45309"/>
                </a:solidFill>
                <a:latin typeface="Microsoft YaHei"/>
                <a:ea typeface="Microsoft YaHei"/>
              </a:rPr>
              <a:t>• 通知硬要求：SMTP 与飞书手机端两个独立渠道分别终端实收；服务接受 ≠ 实收</a:t>
            </a:r>
          </a:p>
          <a:p>
            <a:pPr algn="l">
              <a:spcAft>
                <a:spcPts val="120"/>
              </a:spcAft>
            </a:pPr>
            <a:r>
              <a:rPr lang="zh-CN" sz="1400" dirty="0">
                <a:solidFill>
                  <a:srgbClr val="334155"/>
                </a:solidFill>
                <a:latin typeface="Microsoft YaHei"/>
                <a:ea typeface="Microsoft YaHei"/>
              </a:rPr>
              <a:t>• 权限：普通用户只读、越权拒绝、重复操作幂等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总体方案：分层架构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S3</a:t>
            </a:r>
          </a:p>
        </p:txBody>
      </p:sp>
      <p:pic>
        <p:nvPicPr>
          <p:cNvPr id="10" name="arch"/>
          <p:cNvPicPr>
            <a:picLocks noChangeAspect="1"/>
          </p:cNvPicPr>
          <p:nvPr/>
        </p:nvPicPr>
        <p:blipFill>
          <a:blip r:embed="Rarch100"/>
          <a:stretch>
            <a:fillRect/>
          </a:stretch>
        </p:blipFill>
        <p:spPr>
          <a:xfrm>
            <a:off x="548640" y="1234440"/>
            <a:ext cx="6720534" cy="5029200"/>
          </a:xfrm>
          <a:prstGeom prst="rect">
            <a:avLst/>
          </a:prstGeom>
        </p:spPr>
      </p:pic>
      <p:sp>
        <p:nvSpPr>
          <p:cNvPr id="20" name="bullets"/>
          <p:cNvSpPr txBox="1"/>
          <p:nvPr/>
        </p:nvSpPr>
        <p:spPr>
          <a:xfrm>
            <a:off x="7543494" y="1463040"/>
            <a:ext cx="4282746" cy="457200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120"/>
              </a:spcAft>
            </a:pPr>
            <a:r>
              <a:rPr lang="zh-CN" sz="1200" dirty="0">
                <a:solidFill>
                  <a:srgbClr val="334155"/>
                </a:solidFill>
                <a:latin typeface="Microsoft YaHei"/>
                <a:ea typeface="Microsoft YaHei"/>
              </a:rPr>
              <a:t>展示层 React/TS · HTTP 层 FastAPI（统一 /api/v1，告警路由挂摄取门禁）</a:t>
            </a:r>
          </a:p>
          <a:p>
            <a:pPr algn="l">
              <a:spcAft>
                <a:spcPts val="120"/>
              </a:spcAft>
            </a:pPr>
            <a:r>
              <a:rPr lang="zh-CN" sz="1200" dirty="0">
                <a:solidFill>
                  <a:srgbClr val="334155"/>
                </a:solidFill>
                <a:latin typeface="Microsoft YaHei"/>
                <a:ea typeface="Microsoft YaHei"/>
              </a:rPr>
              <a:t>感知/执行层 14 仿真设备 · MQTT ACL · PostgreSQL 33 表（唯一迁移链 A03→B01→A04→A05→C01）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设备与数据链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S4</a:t>
            </a:r>
          </a:p>
        </p:txBody>
      </p:sp>
      <p:sp>
        <p:nvSpPr>
          <p:cNvPr id="20" name="bullets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设备链（A）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注册/绑定 → 心跳在线判定 → 控制命令持久化 → MQTT 下发 → 设备事务保存执行结果并返回原 ACK → 后续温度反映制冷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离线/故障/恢复事件关联追溯；逐设备账户与 ACL；真实部署默认 TLS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数据链（A+C）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温度消息 → A 校验身份/绑定持久接纳 → C 同事务保存 raw/质量/观测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历史页面按快照分页，同筛选 CSV 完整 ID 对拍；重启后历史保留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证据（A46，精确 62bb2ef 受控环境）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14 设备在线、7 采集流、7 执行 ACK 后降温；停发离线、同状态重启恢复并关联原离线事件；两库 CSV 行数一致（52/39）</a:t>
            </a:r>
          </a:p>
          <a:p>
            <a:pPr algn="l">
              <a:spcAft>
                <a:spcPts val="120"/>
              </a:spcAft>
            </a:pPr>
            <a:r>
              <a:rPr lang="zh-CN" sz="1200" dirty="0">
                <a:solidFill>
                  <a:srgbClr val="B45309"/>
                </a:solidFill>
                <a:latin typeface="Microsoft YaHei"/>
                <a:ea typeface="Microsoft YaHei"/>
              </a:rPr>
              <a:t>• WH1 多批评价仍 hold；不是完整 E1，不写成已完成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告警生命周期与关联更正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S5</a:t>
            </a:r>
          </a:p>
        </p:txBody>
      </p:sp>
      <p:pic>
        <p:nvPicPr>
          <p:cNvPr id="10" name="erb"/>
          <p:cNvPicPr>
            <a:picLocks noChangeAspect="1"/>
          </p:cNvPicPr>
          <p:nvPr/>
        </p:nvPicPr>
        <p:blipFill>
          <a:blip r:embed="Rerb100"/>
          <a:stretch>
            <a:fillRect/>
          </a:stretch>
        </p:blipFill>
        <p:spPr>
          <a:xfrm>
            <a:off x="457200" y="1463040"/>
            <a:ext cx="5120640" cy="3514039"/>
          </a:xfrm>
          <a:prstGeom prst="rect">
            <a:avLst/>
          </a:prstGeom>
        </p:spPr>
      </p:pic>
      <p:sp>
        <p:nvSpPr>
          <p:cNvPr id="20" name="bullets"/>
          <p:cNvSpPr txBox="1"/>
          <p:nvPr/>
        </p:nvSpPr>
        <p:spPr>
          <a:xfrm>
            <a:off x="5943600" y="1280160"/>
            <a:ext cx="5699760" cy="51206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120"/>
              </a:spcAft>
            </a:pPr>
            <a:r>
              <a:rPr lang="zh-CN" sz="1400" b="1" dirty="0">
                <a:solidFill>
                  <a:srgbClr val="0F172A"/>
                </a:solidFill>
                <a:latin typeface="Microsoft YaHei"/>
                <a:ea typeface="Microsoft YaHei"/>
              </a:rPr>
              <a:t>事件与状态机（B）</a:t>
            </a:r>
          </a:p>
          <a:p>
            <a:pPr algn="l">
              <a:spcAft>
                <a:spcPts val="120"/>
              </a:spcAft>
            </a:pPr>
            <a:r>
              <a:rPr lang="zh-CN" sz="1250" dirty="0">
                <a:solidFill>
                  <a:srgbClr val="334155"/>
                </a:solidFill>
                <a:latin typeface="Microsoft YaHei"/>
                <a:ea typeface="Microsoft YaHei"/>
              </a:rPr>
              <a:t>• open → acknowledged（人工 ACK）→ resolved（机器判定恢复）；迁移表 append-only，无回退路径</a:t>
            </a:r>
          </a:p>
          <a:p>
            <a:pPr algn="l">
              <a:spcAft>
                <a:spcPts val="120"/>
              </a:spcAft>
            </a:pPr>
            <a:r>
              <a:rPr lang="zh-CN" sz="1250" dirty="0">
                <a:solidFill>
                  <a:srgbClr val="334155"/>
                </a:solidFill>
                <a:latin typeface="Microsoft YaHei"/>
                <a:ea typeface="Microsoft YaHei"/>
              </a:rPr>
              <a:t>• ACK 与恢复共用同一把原异常行锁（SELECT … FOR UPDATE），锁后重读；双确认只留一条、恢复不回退</a:t>
            </a:r>
          </a:p>
          <a:p>
            <a:pPr algn="l">
              <a:spcAft>
                <a:spcPts val="120"/>
              </a:spcAft>
            </a:pPr>
            <a:r>
              <a:rPr lang="zh-CN" sz="1250" dirty="0">
                <a:solidFill>
                  <a:srgbClr val="334155"/>
                </a:solidFill>
                <a:latin typeface="Microsoft YaHei"/>
                <a:ea typeface="Microsoft YaHei"/>
              </a:rPr>
              <a:t>• 恢复必须保留原异常的规则快照身份（rule_snapshot_id/rule_version/severity）</a:t>
            </a:r>
          </a:p>
          <a:p>
            <a:pPr algn="l">
              <a:spcAft>
                <a:spcPts val="120"/>
              </a:spcAft>
            </a:pPr>
            <a:r>
              <a:rPr lang="zh-CN" sz="1400" b="1" dirty="0">
                <a:solidFill>
                  <a:srgbClr val="0F172A"/>
                </a:solidFill>
                <a:latin typeface="Microsoft YaHei"/>
                <a:ea typeface="Microsoft YaHei"/>
              </a:rPr>
              <a:t>幂等（五态回执）</a:t>
            </a:r>
          </a:p>
          <a:p>
            <a:pPr algn="l">
              <a:spcAft>
                <a:spcPts val="120"/>
              </a:spcAft>
            </a:pPr>
            <a:r>
              <a:rPr lang="zh-CN" sz="1250" dirty="0">
                <a:solidFill>
                  <a:srgbClr val="334155"/>
                </a:solidFill>
                <a:latin typeface="Microsoft YaHei"/>
                <a:ea typeface="Microsoft YaHei"/>
              </a:rPr>
              <a:t>• accepted_new / accepted_duplicate / conflict / invalid / retryable_failure；同 source 同摘要幂等，改正文冲突</a:t>
            </a:r>
          </a:p>
          <a:p>
            <a:pPr algn="l">
              <a:spcAft>
                <a:spcPts val="120"/>
              </a:spcAft>
            </a:pPr>
            <a:r>
              <a:rPr lang="zh-CN" sz="1400" b="1" dirty="0">
                <a:solidFill>
                  <a:srgbClr val="0F172A"/>
                </a:solidFill>
                <a:latin typeface="Microsoft YaHei"/>
                <a:ea typeface="Microsoft YaHei"/>
              </a:rPr>
              <a:t>晚到坏证据更正（F03，PR #80）</a:t>
            </a:r>
          </a:p>
          <a:p>
            <a:pPr algn="l">
              <a:spcAft>
                <a:spcPts val="120"/>
              </a:spcAft>
            </a:pPr>
            <a:r>
              <a:rPr lang="zh-CN" sz="1250" dirty="0">
                <a:solidFill>
                  <a:srgbClr val="334155"/>
                </a:solidFill>
                <a:latin typeface="Microsoft YaHei"/>
                <a:ea typeface="Microsoft YaHei"/>
              </a:rPr>
              <a:t>• data_quality + related_source_event_id 指向原异常；同一把行锁；同库同批校验；零部分写入</a:t>
            </a:r>
          </a:p>
          <a:p>
            <a:pPr algn="l">
              <a:spcAft>
                <a:spcPts val="120"/>
              </a:spcAft>
            </a:pPr>
            <a:r>
              <a:rPr lang="zh-CN" sz="1250" dirty="0">
                <a:solidFill>
                  <a:srgbClr val="334155"/>
                </a:solidFill>
                <a:latin typeface="Microsoft YaHei"/>
                <a:ea typeface="Microsoft YaHei"/>
              </a:rPr>
              <a:t>• 更正永不写状态迁移：resolved 不回退、open 不重开、历史不改写；通知双 ID 可追溯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通知派发与运行入口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S6</a:t>
            </a:r>
          </a:p>
        </p:txBody>
      </p:sp>
      <p:sp>
        <p:nvSpPr>
          <p:cNvPr id="20" name="bullets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派发层（B）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只收集已配置渠道；有界重试（指数退避，permanent 不重试）；每次尝试落 alerts_notification_attempt 审计，审计失败不回滚业务事务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同 (事件，渠道) 已送达则跳过；去重查询失败保守 fail-closed 零发送；单渠道故障不影响另一渠道；只消费已提交事件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持久 runner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pending 扫描：缺 delivered 渠道 + 总尝试 &lt; 12 + 最新尝试早于 60s（重启不清零的持久退避）；部分送达只补缺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单派发互斥：专用连接 PG advisory lock；第二实例零发送；连接丢失即停止认领；dry-run 零写零发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运行入口（A notification_service.py）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显式操作员命令 + --send 开关，默认 dry-run；私有配置收件人；仅 PostgreSQL；SIGTERM 优雅停止；输出脱敏 JSON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B45309"/>
                </a:solidFill>
                <a:latin typeface="Microsoft YaHei"/>
                <a:ea typeface="Microsoft YaHei"/>
              </a:rPr>
              <a:t>双渠道实收状态（如实）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B45309"/>
                </a:solidFill>
                <a:latin typeface="Microsoft YaHei"/>
                <a:ea typeface="Microsoft YaHei"/>
              </a:rPr>
              <a:t>• 一库同版同事件 E1（#6 6459911129）：SMTP 与飞书各一次、两服务接受，队长本人确认邮件与手机飞书均收到、来源 ID 一致（d89c0bf9）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B45309"/>
                </a:solidFill>
                <a:latin typeface="Microsoft YaHei"/>
                <a:ea typeface="Microsoft YaHei"/>
              </a:rPr>
              <a:t>• 服务接受 ≠ 终端实收仍分记；旧 10-27 SSL EOF 为历史未补发；本段演示环境 dry-run，不展示发送画面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验证结果（真实数字，来源可溯）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S7</a:t>
            </a:r>
          </a:p>
        </p:txBody>
      </p:sp>
      <p:sp>
        <p:nvSpPr>
          <p:cNvPr id="20" name="bullets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B 模块与全量回归</a:t>
            </a:r>
          </a:p>
          <a:p>
            <a:pPr algn="l">
              <a:spcAft>
                <a:spcPts val="120"/>
              </a:spcAft>
            </a:pPr>
            <a:r>
              <a:rPr lang="zh-CN" sz="1350" dirty="0">
                <a:solidFill>
                  <a:srgbClr val="334155"/>
                </a:solidFill>
                <a:latin typeface="Microsoft YaHei"/>
                <a:ea typeface="Microsoft YaHei"/>
              </a:rPr>
              <a:t>• 真实 PG 18 / Python 3.14 本机隔离实例（main 319aa63，= 一库 E1 实测来源 e7fffd61，全树一致）：告警与更正契约 21 条回归已随 main 合入</a:t>
            </a:r>
          </a:p>
          <a:p>
            <a:pPr algn="l">
              <a:spcAft>
                <a:spcPts val="120"/>
              </a:spcAft>
            </a:pPr>
            <a:r>
              <a:rPr lang="zh-CN" sz="1350" dirty="0">
                <a:solidFill>
                  <a:srgbClr val="334155"/>
                </a:solidFill>
                <a:latin typeface="Microsoft YaHei"/>
                <a:ea typeface="Microsoft YaHei"/>
              </a:rPr>
              <a:t>• PR #96 SMTP 派发修复为待审增量（候选，不并入冻结主线成绩）：告警套件 419 passed / 2 skipped / 17 subtests（合成 provider，零真实外发）</a:t>
            </a:r>
          </a:p>
          <a:p>
            <a:pPr algn="l">
              <a:spcAft>
                <a:spcPts val="120"/>
              </a:spcAft>
            </a:pPr>
            <a:r>
              <a:rPr lang="zh-CN" sz="1350" dirty="0">
                <a:solidFill>
                  <a:srgbClr val="334155"/>
                </a:solidFill>
                <a:latin typeface="Microsoft YaHei"/>
                <a:ea typeface="Microsoft YaHei"/>
              </a:rPr>
              <a:t>• CI（PR #80 组合头 d1f5359）：9 workflows 全绿；mypy 0 错误；ruff 全绿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A/C 组合证据</a:t>
            </a:r>
          </a:p>
          <a:p>
            <a:pPr algn="l">
              <a:spcAft>
                <a:spcPts val="120"/>
              </a:spcAft>
            </a:pPr>
            <a:r>
              <a:rPr lang="zh-CN" sz="1350" dirty="0">
                <a:solidFill>
                  <a:srgbClr val="334155"/>
                </a:solidFill>
                <a:latin typeface="Microsoft YaHei"/>
                <a:ea typeface="Microsoft YaHei"/>
              </a:rPr>
              <a:t>• 一库同版同事件 E1（#6 6459911129）：双渠道终端实收由队长本人确认；浏览器 281 行 14 列 CSV 与 15 页 ID 一致；普通用户 POST 403</a:t>
            </a:r>
          </a:p>
          <a:p>
            <a:pPr algn="l">
              <a:spcAft>
                <a:spcPts val="120"/>
              </a:spcAft>
            </a:pPr>
            <a:r>
              <a:rPr lang="zh-CN" sz="1350" dirty="0">
                <a:solidFill>
                  <a:srgbClr val="334155"/>
                </a:solidFill>
                <a:latin typeface="Microsoft YaHei"/>
                <a:ea typeface="Microsoft YaHei"/>
              </a:rPr>
              <a:t>• C 第二机（干净检出 e7fffd61）：默认 CMD 无源码挂载 HTTP 通过、14 设备夹具；HTTP CSV 10 行 14 列；API 文件 ≠ 浏览器下载（如实，该段历史）</a:t>
            </a:r>
          </a:p>
          <a:p>
            <a:pPr algn="l">
              <a:spcAft>
                <a:spcPts val="120"/>
              </a:spcAft>
            </a:pPr>
            <a:r>
              <a:rPr lang="zh-CN" sz="1350" dirty="0">
                <a:solidFill>
                  <a:srgbClr val="334155"/>
                </a:solidFill>
                <a:latin typeface="Microsoft YaHei"/>
                <a:ea typeface="Microsoft YaHei"/>
              </a:rPr>
              <a:t>• C 第二机浏览器实测（10-29 交互入口包 03b6002/e7 镜像）：浏览器实际下载 257 行 14 列 CSV 与 13 页快照逐行一致；14 在线、一次 executed ACK、匿名 401</a:t>
            </a:r>
          </a:p>
          <a:p>
            <a:pPr algn="l">
              <a:spcAft>
                <a:spcPts val="120"/>
              </a:spcAft>
            </a:pPr>
            <a:r>
              <a:rPr lang="zh-CN" sz="1350" dirty="0">
                <a:solidFill>
                  <a:srgbClr val="334155"/>
                </a:solidFill>
                <a:latin typeface="Microsoft YaHei"/>
                <a:ea typeface="Microsoft YaHei"/>
              </a:rPr>
              <a:t>• A 离线入口（PR #95 cdb7d95）：14 在线设备、CSV 15 行全 ID、无网络 PG 重启回读 1202 条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B45309"/>
                </a:solidFill>
                <a:latin typeface="Microsoft YaHei"/>
                <a:ea typeface="Microsoft YaHei"/>
              </a:rPr>
              <a:t>边界（如实）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B45309"/>
                </a:solidFill>
                <a:latin typeface="Microsoft YaHei"/>
                <a:ea typeface="Microsoft YaHei"/>
              </a:rPr>
              <a:t>• 以上为隔离回归与受控分段，不是业务现场验收次数；第二机 180s sustained、交互包普通用户 403、最终第二机/M01—M05 总签收未完成；旧 0db9402 失败与旧 10-27 SSL EOF 为有日期历史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nd"/>
          <p:cNvSpPr/>
          <p:nvPr/>
        </p:nvSpPr>
        <p:spPr>
          <a:xfrm>
            <a:off x="0" y="0"/>
            <a:ext cx="12192000" cy="9601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="ctr" lIns="457200"/>
          <a:lstStyle/>
          <a:p>
            <a:pPr algn="l">
              <a:spcAft>
                <a:spcPts val="0"/>
              </a:spcAft>
            </a:pPr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</a:rPr>
              <a:t>限制与团队贡献</a:t>
            </a:r>
            <a:r>
              <a:rPr lang="zh-CN" sz="1200" dirty="0">
                <a:solidFill>
                  <a:srgbClr val="C7D2E4"/>
                </a:solidFill>
                <a:latin typeface="Microsoft YaHei"/>
                <a:ea typeface="Microsoft YaHei"/>
              </a:rPr>
              <a:t>　S8</a:t>
            </a:r>
          </a:p>
        </p:txBody>
      </p:sp>
      <p:sp>
        <p:nvSpPr>
          <p:cNvPr id="20" name="bullets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 lIns="45720" tIns="27432" rIns="45720" bIns="27432"/>
          <a:lstStyle/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限制（不写成完成）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双渠道终端实收已由队长本人在一库同版 E1 确认（#6 6459911129）；E1 出口 ≠ 最终第二机总签收/投稿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智能算法未启用：版本化阈值规则为基线，无算法报告，不虚构性能页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WH1 多批告警评价 hold；第二机自然持续恢复未测（浏览器下载核验已由 10-29 交互入口包完成，见 S7）；模拟数据不宣称真实品质实验</a:t>
            </a:r>
          </a:p>
          <a:p>
            <a:pPr algn="l">
              <a:spcAft>
                <a:spcPts val="120"/>
              </a:spcAft>
            </a:pPr>
            <a:r>
              <a:rPr lang="zh-CN" sz="1500" b="1" dirty="0">
                <a:solidFill>
                  <a:srgbClr val="0F172A"/>
                </a:solidFill>
                <a:latin typeface="Microsoft YaHei"/>
                <a:ea typeface="Microsoft YaHei"/>
              </a:rPr>
              <a:t>团队分工与贡献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A：设备注册/控制/执行闭环、系统架构与 ER、M01/M02 运行包、视频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B：冷库/批次/版本化规则、告警生命周期（行锁串行化）、关联更正契约、通知派发与持久 runner、M03/M04 汇编</a:t>
            </a:r>
          </a:p>
          <a:p>
            <a:pPr algn="l">
              <a:spcAft>
                <a:spcPts val="120"/>
              </a:spcAft>
            </a:pPr>
            <a:r>
              <a:rPr lang="zh-CN" sz="1300" dirty="0">
                <a:solidFill>
                  <a:srgbClr val="334155"/>
                </a:solidFill>
                <a:latin typeface="Microsoft YaHei"/>
                <a:ea typeface="Microsoft YaHei"/>
              </a:rPr>
              <a:t>• C：采集/清洗/历史/快照、恢复 outbox 与门禁、团队测试报告底稿</a:t>
            </a:r>
          </a:p>
          <a:p>
            <a:pPr algn="l">
              <a:spcAft>
                <a:spcPts val="120"/>
              </a:spcAft>
            </a:pPr>
            <a:r>
              <a:rPr lang="zh-CN" sz="1250" dirty="0">
                <a:solidFill>
                  <a:srgbClr val="B45309"/>
                </a:solidFill>
                <a:latin typeface="Microsoft YaHei"/>
                <a:ea typeface="Microsoft YaHei"/>
              </a:rPr>
              <a:t>• 辅助工具使用按赛事要求如实说明，不编造纯人工开发经历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FreshLink M04 builder</ap:Application>
  <ap:PresentationFormat>Widescreen</ap:PresentationFormat>
  <ap:Slides>8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FreshLink M04 presentation draft (B)</dc:title>
  <dc:creator>xixidamei</dc:creator>
  <dcterms:created xsi:type="dcterms:W3CDTF">2026-10-25T00:00:00Z</dcterms:created>
</coreProperties>
</file>